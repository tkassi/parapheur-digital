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cumulé</c:v>
                </c:pt>
              </c:strCache>
            </c:strRef>
          </c:tx>
          <c:spPr>
            <a:solidFill>
              <a:srgbClr val="E53E3E"/>
            </a:solidFill>
            <a:ln w="381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An 0</c:v>
                  </c:pt>
                  <c:pt idx="1">
                    <c:v>An 1</c:v>
                  </c:pt>
                  <c:pt idx="2">
                    <c:v>An 2</c:v>
                  </c:pt>
                  <c:pt idx="3">
                    <c:v>An 3</c:v>
                  </c:pt>
                  <c:pt idx="4">
                    <c:v>An 4</c:v>
                  </c:pt>
                  <c:pt idx="5">
                    <c:v>An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1688</c:v>
                </c:pt>
                <c:pt idx="1">
                  <c:v>2264</c:v>
                </c:pt>
                <c:pt idx="2">
                  <c:v>2840</c:v>
                </c:pt>
                <c:pt idx="3">
                  <c:v>3416</c:v>
                </c:pt>
                <c:pt idx="4">
                  <c:v>3992</c:v>
                </c:pt>
                <c:pt idx="5">
                  <c:v>4568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Bénéfices cumulés</c:v>
                </c:pt>
              </c:strCache>
            </c:strRef>
          </c:tx>
          <c:spPr>
            <a:solidFill>
              <a:srgbClr val="38A169"/>
            </a:solidFill>
            <a:ln w="38100" cap="flat">
              <a:solidFill>
                <a:srgbClr val="38A1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A169"/>
              </a:solidFill>
              <a:ln w="9525" cap="flat">
                <a:solidFill>
                  <a:srgbClr val="38A1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An 0</c:v>
                  </c:pt>
                  <c:pt idx="1">
                    <c:v>An 1</c:v>
                  </c:pt>
                  <c:pt idx="2">
                    <c:v>An 2</c:v>
                  </c:pt>
                  <c:pt idx="3">
                    <c:v>An 3</c:v>
                  </c:pt>
                  <c:pt idx="4">
                    <c:v>An 4</c:v>
                  </c:pt>
                  <c:pt idx="5">
                    <c:v>An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1450</c:v>
                </c:pt>
                <c:pt idx="2">
                  <c:v>2900</c:v>
                </c:pt>
                <c:pt idx="3">
                  <c:v>4350</c:v>
                </c:pt>
                <c:pt idx="4">
                  <c:v>5800</c:v>
                </c:pt>
                <c:pt idx="5">
                  <c:v>7250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8"/>
                    </a:solidFill>
                    <a:latin typeface="Arial"/>
                  </a:rPr>
                  <a:t>K€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Présentez-vous, contextualisez : 'Nous présentons aujourd'hui la synthèse de 4 phases de spécifications produites par l'équipe programme. L'objectif de ce COPIL est d'obtenir le GO sur l'investissement et l'arbitrage des 17 décisions structurantes identifiées.' Durée 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slide d'ascenseur. Énoncez le message principal en une phrase puis dépliez les 3 chiffres-clés : 12K dossiers, 1,69 M€, 3,2 ans. Si vous n'avez que 30 secondes, ce slide suffit.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risque réglementaire : 'Nous opérons aujourd'hui avec un risque CNIL non maîtrisé estimé à plusieurs millions d'euros et un délai de validation 4x supérieur aux benchmarks de notre industrie.'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'avant / après' visuel. Insistez sur le facteur 17 d'économie unitaire (85€ → 5€) et la division par 4 du délai (8j → 2j).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l'effort produit. 4 phases = 4 perspectives complémentaires : utilisateur, métier, conformité, technique. C'est le matériau qui permet aujourd'hui de sécuriser le démarrage.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matrice montre que toutes les dimensions critiques d'un programme SI sont couvertes : utilisateur (P1), métier (P2), conformité (P3), technique (P4). Aucun angle mort majeur.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quantifiée du programme. Insistez sur l'exhaustivité : 142 attributs de données dictionnarisés, 47 contrôles ISO 27001 mappés, 47 PII RGPD inventoriés. Pas d'angle mort.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moderne, modulaire, cloud-native. Chaque microservice est autonome et déployable indépendamment. Le bus Kafka découple la communication, la rendant résiliente aux indisponibilités SAP.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piliers sont obligatoires, pas optionnels. RGPD = la sanction maximale 4% du CA serait au-dessus de notre EBIT. eIDAS = sans QES, nos signatures peuvent être contestées juridiquement. ISO 27001 = pré-requis pour 28% de notre CA secteur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L'investissement est conséquent mais maîtrisé. Le TCO 5 ans est inférieur de 25% à un scénario monolithique. La phase 4 (685 K€) représente le plus gros poste car elle inclut le build des microservices.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business case est positif. Le break-even à 3,2 ans est conservateur — il n'inclut pas les bénéfices qualitatifs (image entreprise, attractivité talent, agilité). Au-delà de 5 ans, le programme génère 1,45 M€/an de marge nette.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ces risques ont des plans d'action chiffrés et budgétés. Aucun risque n'est laissé sans réponse. Les 2 risques critiques (P×I=15-16) concernent la sécurité humaine (phishing) et les vulnérabilités 0-day — risques industriels universels.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décisions à arbitrer, dont la décision 17 est THE décision : valider le budget global. Sans cela, les 16 autres restent suspendues. Proposez 2 sessions COPIL (techniques puis budget).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programme est découpé en 6 phases d'exécution avec jalons clairs. P5+P6 sont les plus longs (cadrage + build). P9 hypercare 12 semaines est non négociable pour réussir l'adoption.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Démarrage immédiat conditionné au GO COPIL. Si validation J+14, démarrage Sprint 0 le M+1 = Go Live janvier 2027 réaliste. Tout retard sur le COPIL décale le Go Live d'autant.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: nous avons vu trop de programmes échouer non par manque de spécifications, mais par manque de sponsorship visible ou de budget protégé. Ces 5 facteurs ne sont pas optionnels.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d'action concret 30 jours. Aucune ambiguïté sur les owners et échéances. La 1ère action (COPIL d'arbitrage J+7) est la plus critique.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clôture. Récapitulez les 3 demandes : GO programme, arbitrage 17 décisions, mandat équipe. Soulignez l'urgence : le créneau Go Live janvier 2027 dépend du GO ce trimestre. Ouvrez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0"/>
            <a:ext cx="1645920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DD6B2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COPIL DIRECTION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d'étape &amp; demande d'arbitrage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931920"/>
            <a:ext cx="3657600" cy="0"/>
          </a:xfrm>
          <a:prstGeom prst="line">
            <a:avLst/>
          </a:prstGeom>
          <a:noFill/>
          <a:ln w="38100">
            <a:solidFill>
              <a:srgbClr val="DD6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avril 2026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par : </a:t>
            </a:r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Programme Parapheur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</a:t>
            </a:r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DG, DAF, DSI, RSSI, DPO, Direction Juridique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de spécifications livrées  |  Décision GO programme requise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clé en trois points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47120" cy="1188720"/>
          </a:xfrm>
          <a:prstGeom prst="rect">
            <a:avLst/>
          </a:prstGeom>
          <a:solidFill>
            <a:srgbClr val="F7FAFC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91440" cy="11887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Parapheur Digital est prêt à passer en exécution.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de spécifications livrées (~395 pages McKinsey-grade), 1,69 M€ CAPEX et 4,57 M€ TCO 5 ans, ROI break-even à 3,2 ans. La décision GO et l'arbitrage des 17 décisions structurantes conditionnent le démarrage immédiat.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3657600" cy="137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/ 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00600"/>
            <a:ext cx="73152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~285 M€ d'engagements financiers traités. 6 cas d'usage majeurs : Achat, RH, Contrat, Capex, Juridique, Marketing. 3 000 utilisateurs sur 18 filiales (FR / DE / CH).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560320"/>
            <a:ext cx="36576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 M€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programme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4800600"/>
            <a:ext cx="73152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+ 576 K€/an OPEX récurrent. TCO 5 ans = 4,57 M€. Économie de 930 K€ vs alternative monolithique on-premises (-25%).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2560320"/>
            <a:ext cx="3657600" cy="1371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ans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83210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4800600"/>
            <a:ext cx="731520" cy="0"/>
          </a:xfrm>
          <a:prstGeom prst="line">
            <a:avLst/>
          </a:prstGeom>
          <a:noFill/>
          <a:ln w="25400">
            <a:solidFill>
              <a:srgbClr val="38A1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937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 M€/an de bénéfices : 1,02 M€ économies papier + 280 K€ gain trésorerie + 150 K€ risque juridique évité. Conformité RGPD/eIDAS/ISO 27001.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programme est-il critique aujourd'hui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ACTUEL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960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traités annuellement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486400" cy="960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97480"/>
            <a:ext cx="73152" cy="9601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M€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83464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financiers / 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86400" cy="960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840480"/>
            <a:ext cx="73152" cy="9601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834640" y="3931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dossiers encore sur papier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5486400" cy="960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983480"/>
            <a:ext cx="73152" cy="9601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74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jours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834640" y="5074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moyen de validation actuel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ENJEUX MAJEURS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5544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554480"/>
            <a:ext cx="137160" cy="1371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opérationnel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2057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de validation longs (8 jours), pertes documents, traçabilité limitée. Manque de pilotage temps réel.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108960"/>
            <a:ext cx="137160" cy="1371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conformité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3611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CNIL plafonnée à 4 % du CA en cas de fuite PII. Contestation juridique signatures sans QES eIDAS (1,2 M€ par contentieux).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663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663440"/>
            <a:ext cx="137160" cy="13716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concurrentiel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675120" y="5166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digitalisés depuis 3-5 ans. 28 % du CA dépend du secteur public régulé exigeant signature électronique qualifiée.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papier au digital — workflow + signature électronique opposable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303520" cy="493776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Processus actuel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493776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Saisie papier ou Excel par initiateur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Tour des bureaux pour signature manuscrite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 + email pour archivage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Classement physique en boîte d'archives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Recherche manuelle en cas de besoin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moyen : 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jours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unitaire : 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~85 € / dossier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: 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897880" y="3383280"/>
            <a:ext cx="365760" cy="548640"/>
          </a:xfrm>
          <a:prstGeom prst="rtTriangle">
            <a:avLst/>
          </a:prstGeom>
          <a:solidFill>
            <a:srgbClr val="DD6B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188720"/>
            <a:ext cx="5303520" cy="7315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Parapheur Digital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493776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Création dossier en ligne (formulaire intelligent)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Workflow auto + notifications mobile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Signature électronique AdES / QES eIDAS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Archivage probant 10 ans (S3 + eDoc)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Recherche full-text + dashboards temps réel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cible : 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jours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unitaire : 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~5 € / dossier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: 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+ eIDAS QES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livrables produits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documents — ~395 pages de spécifications professionnelles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200400" cy="5029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32004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91440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~395 pages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McKinsey-grade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stories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règles métier DMN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risques cotés P×I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décisions COPIL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097280"/>
          <a:ext cx="7772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9144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Modélisation processus parapheur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Diagrammes BPMN (8 diagrammes)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Livrables complémentaires (RACI, exceptions)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Specs détaillées (US, archi, 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Specs métier (règles, cas, données)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Conformité &amp; 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Architecture &amp; Intégration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d'étape COPIL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931920" y="6080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documents PHASE 1-4 (en surbrillance) constituent le cœur du référentiel programme.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4 phases de spécifications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domaine ×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737360"/>
                <a:gridCol w="1737360"/>
                <a:gridCol w="173736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détaillées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métier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stories (47)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C4 + microservices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 + 23 écrans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Règles métier DMN (87)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 chiffrés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Dictionnaire données (142 attributs)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maîtres (17)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+ ISO 27001 (47 contrôles)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(DPIA + 47 PII)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eIDAS QES (Universign)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tests +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SAP / Okta / 13 systèmes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déploiement (Blue/Green Canary)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migration legacy + 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   </a:t>
            </a:r>
            <a:pPr indent="0" marL="0">
              <a:buNone/>
            </a:pPr>
            <a:r>
              <a:rPr lang="en-US" sz="10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partielle / complémentaire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clés du programme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en chiffres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269748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9748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DMN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9748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chiffrés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1188720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188720"/>
            <a:ext cx="269748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14400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dictionnaire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79192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79192"/>
            <a:ext cx="2697480" cy="914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620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4008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maîtres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2679192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9192"/>
            <a:ext cx="2697480" cy="914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8620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347472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spécifiés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679192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679192"/>
            <a:ext cx="2697480" cy="914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8620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630936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documentés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61120" y="2679192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2679192"/>
            <a:ext cx="2697480" cy="914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28620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914400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Kafka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169664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69664"/>
            <a:ext cx="2697480" cy="914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352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640080" y="5084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ISO 27001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91840" y="4169664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169664"/>
            <a:ext cx="2697480" cy="914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4352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3474720" y="5084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RGPD inventoriés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26480" y="4169664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4169664"/>
            <a:ext cx="2697480" cy="914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4352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4400" dirty="0"/>
          </a:p>
        </p:txBody>
      </p:sp>
      <p:sp>
        <p:nvSpPr>
          <p:cNvPr id="50" name="Text 48"/>
          <p:cNvSpPr/>
          <p:nvPr/>
        </p:nvSpPr>
        <p:spPr>
          <a:xfrm>
            <a:off x="6309360" y="5084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cotés P×I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61120" y="4169664"/>
            <a:ext cx="2697480" cy="1325880"/>
          </a:xfrm>
          <a:prstGeom prst="rect">
            <a:avLst/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61120" y="4169664"/>
            <a:ext cx="2697480" cy="914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0" y="4352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9144000" y="50840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COPIL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   </a:t>
            </a:r>
            <a:pPr indent="0" marL="0">
              <a:buNone/>
            </a:pPr>
            <a:r>
              <a:rPr lang="en-US" sz="10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techniques    </a:t>
            </a:r>
            <a:pPr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   </a:t>
            </a:r>
            <a:pPr indent="0" marL="0">
              <a:buNone/>
            </a:pPr>
            <a:r>
              <a:rPr lang="en-US" sz="1000" b="1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/ décisions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microservices + AWS Paris + intégration de 13 systèmes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18 + TS  |  PWA  |  23 écrans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83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(Kong)  |  Auth JWT + WAF + Rate limiting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(Camunda)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(Universign)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900684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0684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378440" y="2423160"/>
            <a:ext cx="132588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78440" y="2423160"/>
            <a:ext cx="13258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1" name="Text 39"/>
          <p:cNvSpPr/>
          <p:nvPr/>
        </p:nvSpPr>
        <p:spPr>
          <a:xfrm>
            <a:off x="1042416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42416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: PostgreSQL 16 (Multi-AZ)  |  Redis 7  |  S3 + KMS  |  Elasticsearch 8  |  HSM Thales (clés QES)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: AWS Paris (eu-west-3) + DR Francfort  |  EKS Kubernetes  |  Multi-AZ  |  RTO 4h / RPO 15min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SI (13 systèmes)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0312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4904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IDP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9496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Universign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088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68680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332720" y="5166360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3272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10312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0312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Reporting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4904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eDoc archive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39496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SIEM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4088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eFax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686800" y="5650992"/>
            <a:ext cx="1600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0" y="5650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(2027)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réglementaires intégrés à la conception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36576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UE 2016/679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DPIA validée (Privacy by Design)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Registre traitements art. 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47 PII inventoriés et cartographiés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575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DPA signés avec 6 sous-traitants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Droits personnes opérationnels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DPO désigné + équipe formée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Hébergement UE (eu-west-3)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310896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86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max : 4 % du 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097280"/>
            <a:ext cx="3657600" cy="8229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eIDAS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2628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UE 910/2014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Signature QES pour ≥ 50 K€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PSCo qualifié (Universign)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HSM Thales Luna 7 EAL4+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575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 PAdES-LTA + horodatage TSA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Présomption fiabilité Code Civil 1367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Conservation probante 10 ans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Augmentation horodatage 8 ans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5486400"/>
            <a:ext cx="310896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5486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probante équivalente manuscrite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1097280"/>
            <a:ext cx="3657600" cy="8229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3210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ASVS Level 2 + RGS B3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47 contrôles ISO 27001:2022 mappés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104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STRIDE : 34 menaces traitées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PAM CyberArk + MFA WebAuthn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1040" y="3575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SIEM Splunk : 47 use cases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Pentest annuel + Bug Bounty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 cross-region testé trimestriel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certif annuel surveillance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5486400"/>
            <a:ext cx="310896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5486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 SecNumCloud (28 % du CA)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consolidé : 1,69 M€ CAPEX + 576 K€/an OPEX  →  TCO 5 ans = 4,57 M€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36576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5 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 M€</a:t>
            </a:r>
            <a:endParaRPr lang="en-US" sz="6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91440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de possession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3,65 M€
</a:t>
            </a:r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scénario monolithique
on-premises
</a:t>
            </a:r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économie 930 K€
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(- 25 % vs alternative)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DU CAPEX (1,69 M€)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détaillées (US, archi, UX)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K€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métier (règles, cas, données)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 K€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&amp; Sécurité (RGPD, eIDAS)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K€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&amp; Intégration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 K€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programme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1 688 K€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3891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RÉCURRENT ANNUEL (576 K€)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89120" y="4709160"/>
            <a:ext cx="7315200" cy="25603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4526280" y="4709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(prod + staging + DR)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24160" y="4709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K€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0" y="5001768"/>
            <a:ext cx="7315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526280" y="50017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 + Kong + Datadog + outils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424160" y="5001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K€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0" y="5294376"/>
            <a:ext cx="7315200" cy="25603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4526280" y="52943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Universign signatures (~14K/an)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424160" y="5294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K€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89120" y="5586984"/>
            <a:ext cx="73152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526280" y="55869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(RGPD, eIDAS, ISO, pentest)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424160" y="5586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K€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89120" y="5879592"/>
            <a:ext cx="7315200" cy="25603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7"/>
          <p:cNvSpPr/>
          <p:nvPr/>
        </p:nvSpPr>
        <p:spPr>
          <a:xfrm>
            <a:off x="4526280" y="5879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HSM + SIEM + WAF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424160" y="5879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K€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1,45 M€/an  →  break-even à 3,2 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ANNUELS RÉCURRENTS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08760"/>
            <a:ext cx="109728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Économies opérationnelles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 dossiers papier  |  85 €/dossier × 12 K dossiers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1691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1 020 K€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48640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88920"/>
            <a:ext cx="109728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trésorerie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validation 8j → 2j  |  Encaissement plus rapide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K€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548640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069080"/>
            <a:ext cx="109728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juridique évité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572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Jurisprudence QES eIDAS  |  Pas de contestation signatures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251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K€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5486400" cy="6400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BÉNÉFICES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5486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1 450 K€ / an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ROI 5 ANS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126480" y="150876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217920" y="5349240"/>
            <a:ext cx="5486400" cy="7772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0" y="5349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ans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Bénéfice net 5 ans 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+ 2,68 M€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majeurs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risques cotés P×I (parmi 62 identifiés)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657600"/>
                <a:gridCol w="1188720"/>
                <a:gridCol w="64008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P×I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 de 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ciblé validateur (BEC 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phishing trimestrielle + DMARC + alerte links suspects + UEBA SIEM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Vulnérabilité 0-day librairie (Log4Shell-like)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continu + Bug Bounty HackerOne + patch SLA &lt; 48h critique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Couplage SAP impacte parapheur (cascade)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Kafka + circuit breaker + fallback async + queue 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utilisateurs faible (&lt; 70 % à T+6 mois)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formation + champions par filiale + UX simple + hypercare 12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équipe (Camunda, Kafka, K8s)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+ recrutement seniors + accompagnement consultant 6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Délais audit/certif (PASSI, eIDAS) impactent Go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Cabinets sélectionnés T-3 mois + budget tampon + audit blanc préalable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utilisateurs insuffisante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formation 4h obligatoire + certification interne + supports vidéo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 réglementaire (eIDAS 2.0 / EUDI Wallet)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Veille réglementaire + roadmap intégration EUDI 2027 + budget réservé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P×I (Probabilité × Impact, 1-5) :  </a:t>
            </a:r>
            <a:pPr indent="0" marL="0">
              <a:buNone/>
            </a:pPr>
            <a:r>
              <a:rPr lang="en-US" sz="1100" b="1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critique    </a:t>
            </a:r>
            <a:pPr indent="0" marL="0">
              <a:buNone/>
            </a:pPr>
            <a:r>
              <a:rPr lang="en-US" sz="11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12 élevé    </a:t>
            </a:r>
            <a:pPr indent="0" marL="0">
              <a:buNone/>
            </a:pPr>
            <a:r>
              <a:rPr lang="en-US" sz="11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modéré    </a:t>
            </a:r>
            <a:pPr indent="0" marL="0">
              <a:buNone/>
            </a:pPr>
            <a:r>
              <a:rPr lang="en-US" sz="1100" b="1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acceptable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décisions COPIL à arbitrer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arbitrages structurants à prendre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029200"/>
                <a:gridCol w="731520"/>
                <a:gridCol w="4846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microservices vs monolithique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(TCO -25 %)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 PSCo signature qualifiée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Universign (souveraineté FR + coût)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testing 118 sessions 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Investir (adoption critique)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DMN moteur de règles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Enterprise (87 règles)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adaptés par filiale (FR / DE / 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Adapté (réglementations locales)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SAP MDG 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Kafka Connect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périmètre Achat + RH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Phasage progressif (mitigation risque)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signature eIDAS QES ≥ 50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QES (présomption Code Civil 1367)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Souveraineté SecNumCloud OVH (28 % CA public)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OVH cluster dédié + AWS reste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HSM Thales Luna 7 EAL4+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Thales (standard ANSSI)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annuel + Bug Bounty HackerOne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Combiné (proactif + continu)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intégration SAP event-driven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+ IDoc async (résilience)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 déploiement Blue/Green Canary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5→25→50→100 %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legacy : coexistence 18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Coexistence (ROI migration KO)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Active/Passive Paris → Francfort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 (RTO 4h, RPO 15min)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privée T+0, publique B2B T+12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(gouvernance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BUDGET TOTAL 1,69 M€ + 576 K€/an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6B2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COPIL recommandées : 2 sessions de 3 heures (J+7 décisions techniques  |  J+14 GO programme + budget)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— phases d'exécution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P5 (Cadrage) à P10 (Run) — 44 semaines + run continu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livrées : </a:t>
            </a:r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Specs détaillées  |  P2 Specs métier  |  P3 Conformité  |  P4 Architecture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</a:t>
            </a:r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achevé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783080" cy="777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Setup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K€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Constitution équipe (11 ETP)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Contrats fournisseurs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Setup AWS + Terraform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Backlog Jira priorisé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920240"/>
            <a:ext cx="1783080" cy="777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231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 K€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microservices Sprint 1-8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Intégration SAP / Okta / Universign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DPIA validée + audit RGPD blanc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UX testing 118 sessions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1920240"/>
            <a:ext cx="1783080" cy="7772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29768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UAT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K€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8056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Pentest externe PASSI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4340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eIDAS + RGPD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4340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UAT 4 sprints (25 users)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 perf + DR drill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8076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1920240"/>
            <a:ext cx="1783080" cy="7772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7220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Go Live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K€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5508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Migration vagues V1+V2+V3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Formation 90 % users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Bascule Blue/Green Canary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 room J+1 → J+7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5528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55280" y="1920240"/>
            <a:ext cx="1783080" cy="7772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0467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&amp; Adoption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K€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22960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9244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Hotline 8h-18h dédiée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09244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Correctifs J+1 / UX fixes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9244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Roll-out filiales DE / CH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9244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Premier audit ISO 27001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29800" y="1920240"/>
            <a:ext cx="1783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829800" y="1920240"/>
            <a:ext cx="1783080" cy="7772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6" name="Text 64"/>
          <p:cNvSpPr/>
          <p:nvPr/>
        </p:nvSpPr>
        <p:spPr>
          <a:xfrm>
            <a:off x="99212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99212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Évolution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92124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92124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104120" y="3474720"/>
            <a:ext cx="1234440" cy="0"/>
          </a:xfrm>
          <a:prstGeom prst="line">
            <a:avLst/>
          </a:prstGeom>
          <a:noFill/>
          <a:ln w="12700">
            <a:solidFill>
              <a:srgbClr val="EDF2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66960" y="3611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Releases mensuelles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96696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Audits annuels (RGPD, eIDAS)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96696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Migration Workday 2027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966960" y="5257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Roadmap : mobile, IA, EUDI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consolidé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simplifié — 44 semaines d'exécution + jalons clés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79665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79665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2131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02131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4596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4596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7062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47062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9527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69527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1993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91993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4458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14458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6924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36924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59389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59389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81855" y="1280160"/>
            <a:ext cx="1022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681855" y="12801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Cadrage &amp; Setup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057400"/>
            <a:ext cx="1022465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057400"/>
            <a:ext cx="1022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— Build MVP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79665" y="2697480"/>
            <a:ext cx="4089862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79665" y="2697480"/>
            <a:ext cx="40898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Tests &amp; UAT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69527" y="3337560"/>
            <a:ext cx="2044931" cy="320040"/>
          </a:xfrm>
          <a:prstGeom prst="roundRect">
            <a:avLst>
              <a:gd name="adj" fmla="val 14286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69527" y="3337560"/>
            <a:ext cx="20449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88620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— Déploiement &amp; Go Live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14458" y="3977640"/>
            <a:ext cx="1022465" cy="320040"/>
          </a:xfrm>
          <a:prstGeom prst="roundRect">
            <a:avLst>
              <a:gd name="adj" fmla="val 14286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14458" y="3977640"/>
            <a:ext cx="1022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— Hypercare &amp; Adoption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36924" y="4617720"/>
            <a:ext cx="3067396" cy="320040"/>
          </a:xfrm>
          <a:prstGeom prst="roundRect">
            <a:avLst>
              <a:gd name="adj" fmla="val 14286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36924" y="4617720"/>
            <a:ext cx="3067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CLÉS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388225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2465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33156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7396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78087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12327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23018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7258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45484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79724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612880" y="5806440"/>
            <a:ext cx="182880" cy="1828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247120" y="6035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cible : </a:t>
            </a:r>
            <a:pPr algn="ct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Go Live : </a:t>
            </a:r>
            <a:pPr algn="ct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 2027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BAU : </a:t>
            </a:r>
            <a:pPr algn="ct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2027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succès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facteurs critiques non négociables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53312"/>
            <a:ext cx="548640" cy="5486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Direction Générale visible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DG aux 3 000 utilisateurs, présence aux COPIL mensuels, arbitrages rapides en cas de blocage.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1247120" cy="868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13432"/>
            <a:ext cx="548640" cy="5486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240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pluridisciplinaire dédiée 18 mois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ETP : 1 Tech Lead + 6 dev seniors + 2 ops + 1 UX + 1 QA. Pas de mutualisation avec autres projets.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73552"/>
            <a:ext cx="548640" cy="54864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protégé (pas de coupe en cours)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formel CAPEX 1,69 M€ + OPEX 576 K€/an. Provisions 10 % pour aléas. Décisions COPIL non révisables.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47120" cy="868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233672"/>
            <a:ext cx="548640" cy="54864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musclé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obligatoire 100 % users. 35 champions filiales. Communication mensuelle. KPI adoption suivi DG.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12 semaines minimum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dédiée, équipe support renforcée, daily standup, correctifs J+1. Première filiale = pilote prioritaire.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5 facteurs sont des conditions de succès indissociables. L'absence d'un seul met en risque l'ensemble du programme.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30 jours à venir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actions immédiates pour démarrer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0"/>
                <a:gridCol w="1371600"/>
                <a:gridCol w="13716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Échéance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Bloquant pour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 COPIL d'arbitrage des 17 décisions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budget total 1,69 M€ + 576 K€/an OPEX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 / 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Désigner Chef de Programme et Tech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Cadrage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 recrutements (6 dev + 2 ops + 1 UX + 1 QA)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Cadrage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Initier négociations Universign + Camunda +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Cadrage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Constituer Comité Sécurité+RGPD (RSSI + DPO + DJ)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6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25 utilisateurs UAT représentatifs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T+4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7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35 champions formateurs filiales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T+4 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9 Hypercare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Toutes ces actions sont conditionnées à la validation du GO programme par ce COPIL  ←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Parapheur Digital  |  COPIL Direction  |  Avril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AU COPIL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validations critiques à acter aujourd'hui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657600" cy="0"/>
          </a:xfrm>
          <a:prstGeom prst="line">
            <a:avLst/>
          </a:prstGeom>
          <a:noFill/>
          <a:ln w="38100">
            <a:solidFill>
              <a:srgbClr val="DD6B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3383280" cy="2926080"/>
          </a:xfrm>
          <a:prstGeom prst="rect">
            <a:avLst/>
          </a:prstGeom>
          <a:solidFill>
            <a:srgbClr val="1A365D"/>
          </a:solidFill>
          <a:ln w="25400">
            <a:solidFill>
              <a:srgbClr val="DD6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68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188720" y="3200400"/>
            <a:ext cx="73152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PROGRAMME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budget consolidé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 M€ CAPEX + 576 K€/an OPEX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5 ans = 4,57 M€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3383280" cy="2926080"/>
          </a:xfrm>
          <a:prstGeom prst="rect">
            <a:avLst/>
          </a:prstGeom>
          <a:solidFill>
            <a:srgbClr val="1A365D"/>
          </a:solidFill>
          <a:ln w="254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468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4983480" y="3200400"/>
            <a:ext cx="73152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17 DÉCISIONS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17 décisions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sessions COPIL de 3h)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2286000"/>
            <a:ext cx="3383280" cy="2926080"/>
          </a:xfrm>
          <a:prstGeom prst="rect">
            <a:avLst/>
          </a:prstGeom>
          <a:solidFill>
            <a:srgbClr val="1A365D"/>
          </a:solidFill>
          <a:ln w="25400">
            <a:solidFill>
              <a:srgbClr val="DD6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468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8778240" y="3200400"/>
            <a:ext cx="731520" cy="0"/>
          </a:xfrm>
          <a:prstGeom prst="line">
            <a:avLst/>
          </a:prstGeom>
          <a:noFill/>
          <a:ln w="25400">
            <a:solidFill>
              <a:srgbClr val="DD6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ÉQUIPE 18 MOIS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équipe dédiée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ETP non mutualisés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18 mois consécutifs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607040" cy="7772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GO ce trimestre, le Go Live janvier 2027 n'est plus tenable.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6400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attention.  |  Questions &amp; arbitrages.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Direction Générale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 Parapheur Digital - Synthèse COPIL</dc:title>
  <dc:subject>PptxGenJS Presentation</dc:subject>
  <dc:creator>Direction Programme Parapheur</dc:creator>
  <cp:lastModifiedBy>Direction Programme Parapheur</cp:lastModifiedBy>
  <cp:revision>1</cp:revision>
  <dcterms:created xsi:type="dcterms:W3CDTF">2026-04-25T13:45:27Z</dcterms:created>
  <dcterms:modified xsi:type="dcterms:W3CDTF">2026-04-25T13:45:27Z</dcterms:modified>
</cp:coreProperties>
</file>