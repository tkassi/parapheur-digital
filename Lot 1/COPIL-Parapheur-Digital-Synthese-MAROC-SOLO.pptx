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de garde. Souligner que cette synthèse révise le cadrage initial pour intégrer 4 paramètres structurants : (1) banque marocaine, (2) plateforme e-signature interne, (3) GED interne, (4) mode solo + Claude. Le COPIL est sollicité pour valider 12 décisions et le GO programme dans ce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messages : (1) le coût s'effondre (-98 %), le débat n'est plus financier ; (2) 12 décisions structurantes à arbitrer ; (3) le risque bascule sur l'humain (bus factor 1). Insister : la valeur économique reste élevée, c'est le risque opérationnel qui doit être gouverné.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les 4 paramètres l'un après l'autre. Chacun a un impact significatif sur l'architecture, la conformité, le budget. Cumulés, ils transforment un programme à 4,5 M€ en projet à 91 K€ cash. Insister sur l'audit en P0 des plateformes internes : tout repose sur leur disponibilité et leur conformité.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cadre réglementaire marocain n'est pas moins exigeant. Loi 09-08 a une approche déclarative (CNDP) avec sanctions pénales possibles. Loi 43-20 reproduit eIDAS. La conformité bancaire BAM est exigeante : circulaires + DNSSI + tests PRA annuels + audit obligatoire par cabinet inscrit BAM.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niveaux mappés sur eIDAS. La SEQ donne l'équivalence avec la signature manuscrite (présomption légale de fiabilité). Mais elle requiert un PSCo agréé DGSSI. C'est LA question d'audit P0 : si la plateforme banque n'est pas agréée DGSSI, plafond SEA + plan B (PSCo externe Barid 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allégée : 5 microservices au lieu de 8. Adapters MS-5 et MS-6 sont des façades légères vers les plateformes banques. Stack TypeScript full-stack pour productivité solo + Claude. Composants supprimés : -30 % de complexité, -50 % effort de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TypeScript unifiée (Node.js + React) accélère le développement solo. Suppression Camunda/Kafka/Okta/Elasticsearch/Tempo : -25 à -30 % effort + 0 € licence. Tout open source. Claude code rapidement les composants standard React + Fastify.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spec API est une hypothèse de modèle de référence. Le P0 (4 semaines) doit confirmer chaque ligne avec la DSI banque. Risque majeur : si la plateforme banque n'est pas agréée DGSSI, on plafonne à SEA. Plan B : PSCo externe (Barid eSign Poste Maroc).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Volumétrie 50 dossiers/jour -&gt; REST synchrone suffit, pas besoin Kafka. GED doit respecter circulaire BAM 5/W/2017 (PCA, archivage 10 ans, audit). Effort total intégrations 44 JH (vs 80+ JH avec connecteurs Kafka et ESB initial).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détaillé. 315 JH solo + Claude vs ~2200 JH équipe initial = -85 %. Productivité observée Claude : 2-3x dev seul. Run = 45 JH/an pour TMA + évolutions + audits annuels.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cash extrêmement réduit. Postes externes incompressibles : audit BAM, pentest, formation. Si DAF demande valorisation temps dev (TJM 3500 MAD), ajouter ~1 M MAD CAPEX. À discuter selon convention banque.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de synthèse de l'impact global. Le coût s'effondre. Le calendrier solo est légèrement plus long (54 vs 44 sem) mais comparable. Les bénéfices restent élevés (volume traité). Le risque dominant bascule du financier vers l'humain : bus factor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10 risques. Top 3 (P×I=15-16) sont sous-estimation effort, indisponibilité dev, et perte sponsorship. Tous mitigeables avec cadrage rigoureux + sponsorship banque actif + tests automatisés. RS-09 (plateforme non agréée DGSSI) est spécifique au contexte Maroc et nécessite plan B Barid 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décisions à arbitrer. 5 sont supprimées vs initial (Universign, HSM, Okta, Kafka, AWS DR Frankfurt). D-R1 et D-R2 sont les plus critiques. D-R12 (sponsorship) est la condition de réussite n°1 en mode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phases dont P0 nouveau (audit prérequis avant engagement). P6-P8 = 3 vagues de build incrémentales. P9 audit externe BAM + dépôt CNDP. P10 hypercare 4 semaines avant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conditions de succès. Les 4 premières sont des prérequis sponsorship banque. Les 4 suivantes sont des disciplines d'exécution. Aucune n'est négociable en mode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actions pour les 30 prochains jours. Actions 1-3 = sponsorship (J+5). Actions 4-7 = audit prérequis techniques + conformité (J+10-15). Actions 8-9 = setup (J+20-25). Action 10 = validation finale COPIL (J+30).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finale. Demande explicite au COPIL : (1) GO programme, (2) validation 12 décisions, (3) mandat + sponsorship, (4) levée 4 prérequis P0. Calendrier serré mais réaliste : 30 jours pour boucler les prérequis, puis 54 semaines de Build. Insister sur l'urgence des prérequis : sans accès API banque opérationnels, le programme ne peut pas démarrer.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53F"/>
        </a:solidFill>
      </p:bgPr>
    </p:bg>
    <p:spTree>
      <p:nvGrpSpPr>
        <p:cNvPr id="1" name=""/>
        <p:cNvGrpSpPr/>
        <p:nvPr/>
      </p:nvGrpSpPr>
      <p:grpSpPr>
        <a:xfrm>
          <a:off x="0" y="0"/>
          <a:ext cx="0" cy="0"/>
          <a:chOff x="0" y="0"/>
          <a:chExt cx="0" cy="0"/>
        </a:xfrm>
      </p:grpSpPr>
      <p:sp>
        <p:nvSpPr>
          <p:cNvPr id="2" name="Shape 0"/>
          <p:cNvSpPr/>
          <p:nvPr/>
        </p:nvSpPr>
        <p:spPr>
          <a:xfrm>
            <a:off x="0" y="5029200"/>
            <a:ext cx="12161520" cy="45720"/>
          </a:xfrm>
          <a:prstGeom prst="rect">
            <a:avLst/>
          </a:prstGeom>
          <a:solidFill>
            <a:srgbClr val="DD6B20"/>
          </a:solidFill>
          <a:ln w="12700">
            <a:solidFill>
              <a:srgbClr val="DD6B20"/>
            </a:solidFill>
            <a:prstDash val="solid"/>
          </a:ln>
        </p:spPr>
      </p:sp>
      <p:sp>
        <p:nvSpPr>
          <p:cNvPr id="3" name="Text 1"/>
          <p:cNvSpPr/>
          <p:nvPr/>
        </p:nvSpPr>
        <p:spPr>
          <a:xfrm>
            <a:off x="457200" y="457200"/>
            <a:ext cx="11247120" cy="365760"/>
          </a:xfrm>
          <a:prstGeom prst="rect">
            <a:avLst/>
          </a:prstGeom>
          <a:noFill/>
          <a:ln/>
        </p:spPr>
        <p:txBody>
          <a:bodyPr wrap="square" rtlCol="0" anchor="ctr"/>
          <a:lstStyle/>
          <a:p>
            <a:pPr indent="0" marL="0">
              <a:buNone/>
            </a:pPr>
            <a:r>
              <a:rPr lang="en-US" sz="1200" b="1" spc="400" kern="0" dirty="0">
                <a:solidFill>
                  <a:srgbClr val="CADCFC"/>
                </a:solidFill>
                <a:latin typeface="Calibri" pitchFamily="34" charset="0"/>
                <a:ea typeface="Calibri" pitchFamily="34" charset="-122"/>
                <a:cs typeface="Calibri" pitchFamily="34" charset="-120"/>
              </a:rPr>
              <a:t>CONFIDENTIEL  |  COPIL DIRECTION</a:t>
            </a:r>
            <a:endParaRPr lang="en-US" sz="1200" dirty="0"/>
          </a:p>
        </p:txBody>
      </p:sp>
      <p:sp>
        <p:nvSpPr>
          <p:cNvPr id="4" name="Text 2"/>
          <p:cNvSpPr/>
          <p:nvPr/>
        </p:nvSpPr>
        <p:spPr>
          <a:xfrm>
            <a:off x="457200" y="1828800"/>
            <a:ext cx="11247120" cy="9144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Programme Parapheur Digital</a:t>
            </a:r>
            <a:endParaRPr lang="en-US" sz="4400" dirty="0"/>
          </a:p>
        </p:txBody>
      </p:sp>
      <p:sp>
        <p:nvSpPr>
          <p:cNvPr id="5" name="Text 3"/>
          <p:cNvSpPr/>
          <p:nvPr/>
        </p:nvSpPr>
        <p:spPr>
          <a:xfrm>
            <a:off x="457200" y="2834640"/>
            <a:ext cx="11247120" cy="548640"/>
          </a:xfrm>
          <a:prstGeom prst="rect">
            <a:avLst/>
          </a:prstGeom>
          <a:noFill/>
          <a:ln/>
        </p:spPr>
        <p:txBody>
          <a:bodyPr wrap="square" rtlCol="0" anchor="ctr"/>
          <a:lstStyle/>
          <a:p>
            <a:pPr indent="0" marL="0">
              <a:buNone/>
            </a:pPr>
            <a:r>
              <a:rPr lang="en-US" sz="2600" dirty="0">
                <a:solidFill>
                  <a:srgbClr val="CADCFC"/>
                </a:solidFill>
                <a:latin typeface="Calibri" pitchFamily="34" charset="0"/>
                <a:ea typeface="Calibri" pitchFamily="34" charset="-122"/>
                <a:cs typeface="Calibri" pitchFamily="34" charset="-120"/>
              </a:rPr>
              <a:t>Synthèse de cadrage révisée</a:t>
            </a:r>
            <a:endParaRPr lang="en-US" sz="2600" dirty="0"/>
          </a:p>
        </p:txBody>
      </p:sp>
      <p:sp>
        <p:nvSpPr>
          <p:cNvPr id="6" name="Text 4"/>
          <p:cNvSpPr/>
          <p:nvPr/>
        </p:nvSpPr>
        <p:spPr>
          <a:xfrm>
            <a:off x="457200" y="3474720"/>
            <a:ext cx="11247120" cy="457200"/>
          </a:xfrm>
          <a:prstGeom prst="rect">
            <a:avLst/>
          </a:prstGeom>
          <a:noFill/>
          <a:ln/>
        </p:spPr>
        <p:txBody>
          <a:bodyPr wrap="square" rtlCol="0" anchor="ctr"/>
          <a:lstStyle/>
          <a:p>
            <a:pPr indent="0" marL="0">
              <a:buNone/>
            </a:pPr>
            <a:r>
              <a:rPr lang="en-US" sz="1600" i="1" dirty="0">
                <a:solidFill>
                  <a:srgbClr val="DD6B20"/>
                </a:solidFill>
                <a:latin typeface="Calibri" pitchFamily="34" charset="0"/>
                <a:ea typeface="Calibri" pitchFamily="34" charset="-122"/>
                <a:cs typeface="Calibri" pitchFamily="34" charset="-120"/>
              </a:rPr>
              <a:t>Contexte banque marocaine - Plateformes internes - Mode solo + Claude</a:t>
            </a:r>
            <a:endParaRPr lang="en-US" sz="1600" dirty="0"/>
          </a:p>
        </p:txBody>
      </p:sp>
      <p:sp>
        <p:nvSpPr>
          <p:cNvPr id="7" name="Text 5"/>
          <p:cNvSpPr/>
          <p:nvPr/>
        </p:nvSpPr>
        <p:spPr>
          <a:xfrm>
            <a:off x="457200" y="5394960"/>
            <a:ext cx="11247120" cy="36576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COPIL Direction - Avril 2026</a:t>
            </a:r>
            <a:endParaRPr lang="en-US" sz="1600" dirty="0"/>
          </a:p>
        </p:txBody>
      </p:sp>
      <p:sp>
        <p:nvSpPr>
          <p:cNvPr id="8" name="Text 6"/>
          <p:cNvSpPr/>
          <p:nvPr/>
        </p:nvSpPr>
        <p:spPr>
          <a:xfrm>
            <a:off x="457200" y="5760720"/>
            <a:ext cx="11247120" cy="274320"/>
          </a:xfrm>
          <a:prstGeom prst="rect">
            <a:avLst/>
          </a:prstGeom>
          <a:noFill/>
          <a:ln/>
        </p:spPr>
        <p:txBody>
          <a:bodyPr wrap="square" rtlCol="0" anchor="ctr"/>
          <a:lstStyle/>
          <a:p>
            <a:pPr indent="0" marL="0">
              <a:buNone/>
            </a:pPr>
            <a:r>
              <a:rPr lang="en-US" sz="1200" dirty="0">
                <a:solidFill>
                  <a:srgbClr val="8FA8C9"/>
                </a:solidFill>
                <a:latin typeface="Calibri" pitchFamily="34" charset="0"/>
                <a:ea typeface="Calibri" pitchFamily="34" charset="-122"/>
                <a:cs typeface="Calibri" pitchFamily="34" charset="-120"/>
              </a:rPr>
              <a:t>DG | DAF | DSI | RSSI | Conformité | Direction Juridique</a:t>
            </a:r>
            <a:endParaRPr lang="en-US" sz="1200" dirty="0"/>
          </a:p>
        </p:txBody>
      </p:sp>
      <p:sp>
        <p:nvSpPr>
          <p:cNvPr id="9" name="Text 7"/>
          <p:cNvSpPr/>
          <p:nvPr/>
        </p:nvSpPr>
        <p:spPr>
          <a:xfrm>
            <a:off x="457200" y="6355080"/>
            <a:ext cx="11247120" cy="228600"/>
          </a:xfrm>
          <a:prstGeom prst="rect">
            <a:avLst/>
          </a:prstGeom>
          <a:noFill/>
          <a:ln/>
        </p:spPr>
        <p:txBody>
          <a:bodyPr wrap="square" rtlCol="0" anchor="ctr"/>
          <a:lstStyle/>
          <a:p>
            <a:pPr indent="0" marL="0">
              <a:buNone/>
            </a:pPr>
            <a:r>
              <a:rPr lang="en-US" sz="900" i="1" dirty="0">
                <a:solidFill>
                  <a:srgbClr val="8FA8C9"/>
                </a:solidFill>
                <a:latin typeface="Calibri" pitchFamily="34" charset="0"/>
                <a:ea typeface="Calibri" pitchFamily="34" charset="-122"/>
                <a:cs typeface="Calibri" pitchFamily="34" charset="-120"/>
              </a:rPr>
              <a:t>Document interne - diffusion restreinte. Reproduction interdite.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Executive Summary</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Trois messages clés - Recalibrage du programme dans le contexte Maroc / banque / solo</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Text 4"/>
          <p:cNvSpPr/>
          <p:nvPr/>
        </p:nvSpPr>
        <p:spPr>
          <a:xfrm>
            <a:off x="457200" y="868680"/>
            <a:ext cx="11247120" cy="365760"/>
          </a:xfrm>
          <a:prstGeom prst="rect">
            <a:avLst/>
          </a:prstGeom>
          <a:noFill/>
          <a:ln/>
        </p:spPr>
        <p:txBody>
          <a:bodyPr wrap="square" rtlCol="0" anchor="ctr"/>
          <a:lstStyle/>
          <a:p>
            <a:pPr indent="0" marL="0">
              <a:buNone/>
            </a:pPr>
            <a:r>
              <a:rPr lang="en-US" sz="1600" b="1" dirty="0">
                <a:solidFill>
                  <a:srgbClr val="1A365D"/>
                </a:solidFill>
                <a:latin typeface="Calibri" pitchFamily="34" charset="0"/>
                <a:ea typeface="Calibri" pitchFamily="34" charset="-122"/>
                <a:cs typeface="Calibri" pitchFamily="34" charset="-120"/>
              </a:rPr>
              <a:t>Ce qui change radicalement, ce qui reste exigeant</a:t>
            </a:r>
            <a:endParaRPr lang="en-US" sz="1600" dirty="0"/>
          </a:p>
        </p:txBody>
      </p:sp>
      <p:sp>
        <p:nvSpPr>
          <p:cNvPr id="7" name="Shape 5"/>
          <p:cNvSpPr/>
          <p:nvPr/>
        </p:nvSpPr>
        <p:spPr>
          <a:xfrm>
            <a:off x="457200" y="1371600"/>
            <a:ext cx="3337560" cy="4114800"/>
          </a:xfrm>
          <a:prstGeom prst="rect">
            <a:avLst/>
          </a:prstGeom>
          <a:solidFill>
            <a:srgbClr val="F7FAFC"/>
          </a:solidFill>
          <a:ln w="12700">
            <a:solidFill>
              <a:srgbClr val="E2E8F0"/>
            </a:solidFill>
            <a:prstDash val="solid"/>
          </a:ln>
        </p:spPr>
      </p:sp>
      <p:sp>
        <p:nvSpPr>
          <p:cNvPr id="8" name="Shape 6"/>
          <p:cNvSpPr/>
          <p:nvPr/>
        </p:nvSpPr>
        <p:spPr>
          <a:xfrm>
            <a:off x="457200" y="1371600"/>
            <a:ext cx="3337560" cy="109728"/>
          </a:xfrm>
          <a:prstGeom prst="rect">
            <a:avLst/>
          </a:prstGeom>
          <a:solidFill>
            <a:srgbClr val="38A169"/>
          </a:solidFill>
          <a:ln w="12700">
            <a:solidFill>
              <a:srgbClr val="38A169"/>
            </a:solidFill>
            <a:prstDash val="solid"/>
          </a:ln>
        </p:spPr>
      </p:sp>
      <p:sp>
        <p:nvSpPr>
          <p:cNvPr id="9" name="Text 7"/>
          <p:cNvSpPr/>
          <p:nvPr/>
        </p:nvSpPr>
        <p:spPr>
          <a:xfrm>
            <a:off x="640080" y="1691640"/>
            <a:ext cx="2971800" cy="1097280"/>
          </a:xfrm>
          <a:prstGeom prst="rect">
            <a:avLst/>
          </a:prstGeom>
          <a:noFill/>
          <a:ln/>
        </p:spPr>
        <p:txBody>
          <a:bodyPr wrap="square" rtlCol="0" anchor="ctr"/>
          <a:lstStyle/>
          <a:p>
            <a:pPr indent="0" marL="0">
              <a:buNone/>
            </a:pPr>
            <a:r>
              <a:rPr lang="en-US" sz="4400" b="1" dirty="0">
                <a:solidFill>
                  <a:srgbClr val="38A169"/>
                </a:solidFill>
                <a:latin typeface="Calibri" pitchFamily="34" charset="0"/>
                <a:ea typeface="Calibri" pitchFamily="34" charset="-122"/>
                <a:cs typeface="Calibri" pitchFamily="34" charset="-120"/>
              </a:rPr>
              <a:t>-98 %</a:t>
            </a:r>
            <a:endParaRPr lang="en-US" sz="4400" dirty="0"/>
          </a:p>
        </p:txBody>
      </p:sp>
      <p:sp>
        <p:nvSpPr>
          <p:cNvPr id="10" name="Text 8"/>
          <p:cNvSpPr/>
          <p:nvPr/>
        </p:nvSpPr>
        <p:spPr>
          <a:xfrm>
            <a:off x="640080" y="2834640"/>
            <a:ext cx="2971800" cy="457200"/>
          </a:xfrm>
          <a:prstGeom prst="rect">
            <a:avLst/>
          </a:prstGeom>
          <a:noFill/>
          <a:ln/>
        </p:spPr>
        <p:txBody>
          <a:bodyPr wrap="square" rtlCol="0" anchor="ctr"/>
          <a:lstStyle/>
          <a:p>
            <a:pPr indent="0" marL="0">
              <a:buNone/>
            </a:pPr>
            <a:r>
              <a:rPr lang="en-US" sz="1800" b="1" dirty="0">
                <a:solidFill>
                  <a:srgbClr val="1A365D"/>
                </a:solidFill>
                <a:latin typeface="Calibri" pitchFamily="34" charset="0"/>
                <a:ea typeface="Calibri" pitchFamily="34" charset="-122"/>
                <a:cs typeface="Calibri" pitchFamily="34" charset="-120"/>
              </a:rPr>
              <a:t>Coût effondré</a:t>
            </a:r>
            <a:endParaRPr lang="en-US" sz="1800" dirty="0"/>
          </a:p>
        </p:txBody>
      </p:sp>
      <p:sp>
        <p:nvSpPr>
          <p:cNvPr id="11" name="Text 9"/>
          <p:cNvSpPr/>
          <p:nvPr/>
        </p:nvSpPr>
        <p:spPr>
          <a:xfrm>
            <a:off x="640080" y="3383280"/>
            <a:ext cx="2971800" cy="20116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TCO 5 ans : 49,4 M MAD -&gt; 0,98 M MAD cash. Suppression équipe 18 mois, Universign, HSM, Okta, Kafka. Stack solo + Claude.</a:t>
            </a:r>
            <a:endParaRPr lang="en-US" sz="1200" dirty="0"/>
          </a:p>
        </p:txBody>
      </p:sp>
      <p:sp>
        <p:nvSpPr>
          <p:cNvPr id="12" name="Shape 10"/>
          <p:cNvSpPr/>
          <p:nvPr/>
        </p:nvSpPr>
        <p:spPr>
          <a:xfrm>
            <a:off x="4416552" y="1371600"/>
            <a:ext cx="3337560" cy="4114800"/>
          </a:xfrm>
          <a:prstGeom prst="rect">
            <a:avLst/>
          </a:prstGeom>
          <a:solidFill>
            <a:srgbClr val="F7FAFC"/>
          </a:solidFill>
          <a:ln w="12700">
            <a:solidFill>
              <a:srgbClr val="E2E8F0"/>
            </a:solidFill>
            <a:prstDash val="solid"/>
          </a:ln>
        </p:spPr>
      </p:sp>
      <p:sp>
        <p:nvSpPr>
          <p:cNvPr id="13" name="Shape 11"/>
          <p:cNvSpPr/>
          <p:nvPr/>
        </p:nvSpPr>
        <p:spPr>
          <a:xfrm>
            <a:off x="4416552" y="1371600"/>
            <a:ext cx="3337560" cy="109728"/>
          </a:xfrm>
          <a:prstGeom prst="rect">
            <a:avLst/>
          </a:prstGeom>
          <a:solidFill>
            <a:srgbClr val="DD6B20"/>
          </a:solidFill>
          <a:ln w="12700">
            <a:solidFill>
              <a:srgbClr val="DD6B20"/>
            </a:solidFill>
            <a:prstDash val="solid"/>
          </a:ln>
        </p:spPr>
      </p:sp>
      <p:sp>
        <p:nvSpPr>
          <p:cNvPr id="14" name="Text 12"/>
          <p:cNvSpPr/>
          <p:nvPr/>
        </p:nvSpPr>
        <p:spPr>
          <a:xfrm>
            <a:off x="4599432" y="1691640"/>
            <a:ext cx="2971800" cy="1097280"/>
          </a:xfrm>
          <a:prstGeom prst="rect">
            <a:avLst/>
          </a:prstGeom>
          <a:noFill/>
          <a:ln/>
        </p:spPr>
        <p:txBody>
          <a:bodyPr wrap="square" rtlCol="0" anchor="ctr"/>
          <a:lstStyle/>
          <a:p>
            <a:pPr indent="0" marL="0">
              <a:buNone/>
            </a:pPr>
            <a:r>
              <a:rPr lang="en-US" sz="4400" b="1" dirty="0">
                <a:solidFill>
                  <a:srgbClr val="DD6B20"/>
                </a:solidFill>
                <a:latin typeface="Calibri" pitchFamily="34" charset="0"/>
                <a:ea typeface="Calibri" pitchFamily="34" charset="-122"/>
                <a:cs typeface="Calibri" pitchFamily="34" charset="-120"/>
              </a:rPr>
              <a:t>12</a:t>
            </a:r>
            <a:endParaRPr lang="en-US" sz="4400" dirty="0"/>
          </a:p>
        </p:txBody>
      </p:sp>
      <p:sp>
        <p:nvSpPr>
          <p:cNvPr id="15" name="Text 13"/>
          <p:cNvSpPr/>
          <p:nvPr/>
        </p:nvSpPr>
        <p:spPr>
          <a:xfrm>
            <a:off x="4599432" y="2834640"/>
            <a:ext cx="2971800" cy="457200"/>
          </a:xfrm>
          <a:prstGeom prst="rect">
            <a:avLst/>
          </a:prstGeom>
          <a:noFill/>
          <a:ln/>
        </p:spPr>
        <p:txBody>
          <a:bodyPr wrap="square" rtlCol="0" anchor="ctr"/>
          <a:lstStyle/>
          <a:p>
            <a:pPr indent="0" marL="0">
              <a:buNone/>
            </a:pPr>
            <a:r>
              <a:rPr lang="en-US" sz="1800" b="1" dirty="0">
                <a:solidFill>
                  <a:srgbClr val="1A365D"/>
                </a:solidFill>
                <a:latin typeface="Calibri" pitchFamily="34" charset="0"/>
                <a:ea typeface="Calibri" pitchFamily="34" charset="-122"/>
                <a:cs typeface="Calibri" pitchFamily="34" charset="-120"/>
              </a:rPr>
              <a:t>Décisions COPIL</a:t>
            </a:r>
            <a:endParaRPr lang="en-US" sz="1800" dirty="0"/>
          </a:p>
        </p:txBody>
      </p:sp>
      <p:sp>
        <p:nvSpPr>
          <p:cNvPr id="16" name="Text 14"/>
          <p:cNvSpPr/>
          <p:nvPr/>
        </p:nvSpPr>
        <p:spPr>
          <a:xfrm>
            <a:off x="4599432" y="3383280"/>
            <a:ext cx="2971800" cy="20116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12 arbitrages dans le nouveau contexte (vs 17 initial). Hébergement, niveau signature, stack technique, sponsorship banque, sécurité bancaire.</a:t>
            </a:r>
            <a:endParaRPr lang="en-US" sz="1200" dirty="0"/>
          </a:p>
        </p:txBody>
      </p:sp>
      <p:sp>
        <p:nvSpPr>
          <p:cNvPr id="17" name="Shape 15"/>
          <p:cNvSpPr/>
          <p:nvPr/>
        </p:nvSpPr>
        <p:spPr>
          <a:xfrm>
            <a:off x="8375904" y="1371600"/>
            <a:ext cx="3337560" cy="4114800"/>
          </a:xfrm>
          <a:prstGeom prst="rect">
            <a:avLst/>
          </a:prstGeom>
          <a:solidFill>
            <a:srgbClr val="F7FAFC"/>
          </a:solidFill>
          <a:ln w="12700">
            <a:solidFill>
              <a:srgbClr val="E2E8F0"/>
            </a:solidFill>
            <a:prstDash val="solid"/>
          </a:ln>
        </p:spPr>
      </p:sp>
      <p:sp>
        <p:nvSpPr>
          <p:cNvPr id="18" name="Shape 16"/>
          <p:cNvSpPr/>
          <p:nvPr/>
        </p:nvSpPr>
        <p:spPr>
          <a:xfrm>
            <a:off x="8375904" y="1371600"/>
            <a:ext cx="3337560" cy="109728"/>
          </a:xfrm>
          <a:prstGeom prst="rect">
            <a:avLst/>
          </a:prstGeom>
          <a:solidFill>
            <a:srgbClr val="E53E3E"/>
          </a:solidFill>
          <a:ln w="12700">
            <a:solidFill>
              <a:srgbClr val="E53E3E"/>
            </a:solidFill>
            <a:prstDash val="solid"/>
          </a:ln>
        </p:spPr>
      </p:sp>
      <p:sp>
        <p:nvSpPr>
          <p:cNvPr id="19" name="Text 17"/>
          <p:cNvSpPr/>
          <p:nvPr/>
        </p:nvSpPr>
        <p:spPr>
          <a:xfrm>
            <a:off x="8558784" y="1691640"/>
            <a:ext cx="2971800" cy="1097280"/>
          </a:xfrm>
          <a:prstGeom prst="rect">
            <a:avLst/>
          </a:prstGeom>
          <a:noFill/>
          <a:ln/>
        </p:spPr>
        <p:txBody>
          <a:bodyPr wrap="square" rtlCol="0" anchor="ctr"/>
          <a:lstStyle/>
          <a:p>
            <a:pPr indent="0" marL="0">
              <a:buNone/>
            </a:pPr>
            <a:r>
              <a:rPr lang="en-US" sz="4400" b="1" dirty="0">
                <a:solidFill>
                  <a:srgbClr val="E53E3E"/>
                </a:solidFill>
                <a:latin typeface="Calibri" pitchFamily="34" charset="0"/>
                <a:ea typeface="Calibri" pitchFamily="34" charset="-122"/>
                <a:cs typeface="Calibri" pitchFamily="34" charset="-120"/>
              </a:rPr>
              <a:t>Bus = 1</a:t>
            </a:r>
            <a:endParaRPr lang="en-US" sz="4400" dirty="0"/>
          </a:p>
        </p:txBody>
      </p:sp>
      <p:sp>
        <p:nvSpPr>
          <p:cNvPr id="20" name="Text 18"/>
          <p:cNvSpPr/>
          <p:nvPr/>
        </p:nvSpPr>
        <p:spPr>
          <a:xfrm>
            <a:off x="8558784" y="2834640"/>
            <a:ext cx="2971800" cy="457200"/>
          </a:xfrm>
          <a:prstGeom prst="rect">
            <a:avLst/>
          </a:prstGeom>
          <a:noFill/>
          <a:ln/>
        </p:spPr>
        <p:txBody>
          <a:bodyPr wrap="square" rtlCol="0" anchor="ctr"/>
          <a:lstStyle/>
          <a:p>
            <a:pPr indent="0" marL="0">
              <a:buNone/>
            </a:pPr>
            <a:r>
              <a:rPr lang="en-US" sz="1800" b="1" dirty="0">
                <a:solidFill>
                  <a:srgbClr val="1A365D"/>
                </a:solidFill>
                <a:latin typeface="Calibri" pitchFamily="34" charset="0"/>
                <a:ea typeface="Calibri" pitchFamily="34" charset="-122"/>
                <a:cs typeface="Calibri" pitchFamily="34" charset="-120"/>
              </a:rPr>
              <a:t>Risque opérationnel</a:t>
            </a:r>
            <a:endParaRPr lang="en-US" sz="1800" dirty="0"/>
          </a:p>
        </p:txBody>
      </p:sp>
      <p:sp>
        <p:nvSpPr>
          <p:cNvPr id="21" name="Text 19"/>
          <p:cNvSpPr/>
          <p:nvPr/>
        </p:nvSpPr>
        <p:spPr>
          <a:xfrm>
            <a:off x="8558784" y="3383280"/>
            <a:ext cx="2971800" cy="20116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Dépendance à un seul développeur. Garde-fous obligatoires : sponsor banque, doc exhaustive, audit externe, tests automatisés ≥ 80 %.</a:t>
            </a:r>
            <a:endParaRPr lang="en-US" sz="1200" dirty="0"/>
          </a:p>
        </p:txBody>
      </p:sp>
      <p:sp>
        <p:nvSpPr>
          <p:cNvPr id="22" name="Text 20"/>
          <p:cNvSpPr/>
          <p:nvPr/>
        </p:nvSpPr>
        <p:spPr>
          <a:xfrm>
            <a:off x="457200" y="5623560"/>
            <a:ext cx="11247120" cy="274320"/>
          </a:xfrm>
          <a:prstGeom prst="rect">
            <a:avLst/>
          </a:prstGeom>
          <a:noFill/>
          <a:ln/>
        </p:spPr>
        <p:txBody>
          <a:bodyPr wrap="square"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Recommandation Direction de programme</a:t>
            </a:r>
            <a:endParaRPr lang="en-US" sz="1200" dirty="0"/>
          </a:p>
        </p:txBody>
      </p:sp>
      <p:sp>
        <p:nvSpPr>
          <p:cNvPr id="23" name="Text 21"/>
          <p:cNvSpPr/>
          <p:nvPr/>
        </p:nvSpPr>
        <p:spPr>
          <a:xfrm>
            <a:off x="457200" y="5897880"/>
            <a:ext cx="11247120" cy="548640"/>
          </a:xfrm>
          <a:prstGeom prst="rect">
            <a:avLst/>
          </a:prstGeom>
          <a:noFill/>
          <a:ln/>
        </p:spPr>
        <p:txBody>
          <a:bodyPr wrap="square"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GO programme conditionné à : (a) accès API e-sign + GED bancaires, (b) lettre de mission DG/DSI signée, (c) correspondant CNDP désigné, (d) hébergement validé. Démarrage Phase 0 sous 5 jours.</a:t>
            </a:r>
            <a:endParaRPr lang="en-US" sz="1100" dirty="0"/>
          </a:p>
        </p:txBody>
      </p:sp>
      <p:sp>
        <p:nvSpPr>
          <p:cNvPr id="24" name="Shape 22"/>
          <p:cNvSpPr/>
          <p:nvPr/>
        </p:nvSpPr>
        <p:spPr>
          <a:xfrm>
            <a:off x="457200" y="6537960"/>
            <a:ext cx="11247120" cy="0"/>
          </a:xfrm>
          <a:prstGeom prst="line">
            <a:avLst/>
          </a:prstGeom>
          <a:noFill/>
          <a:ln w="9525">
            <a:solidFill>
              <a:srgbClr val="E2E8F0"/>
            </a:solidFill>
            <a:prstDash val="solid"/>
          </a:ln>
        </p:spPr>
      </p:sp>
      <p:sp>
        <p:nvSpPr>
          <p:cNvPr id="25" name="Text 23"/>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26" name="Text 24"/>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Quatre paramètres structurants</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Pourquoi cette révision du cadrage initial ?</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Shape 4"/>
          <p:cNvSpPr/>
          <p:nvPr/>
        </p:nvSpPr>
        <p:spPr>
          <a:xfrm>
            <a:off x="457200" y="1143000"/>
            <a:ext cx="822960" cy="822960"/>
          </a:xfrm>
          <a:prstGeom prst="ellipse">
            <a:avLst/>
          </a:prstGeom>
          <a:solidFill>
            <a:srgbClr val="1A365D"/>
          </a:solidFill>
          <a:ln w="12700">
            <a:solidFill>
              <a:srgbClr val="1A365D"/>
            </a:solidFill>
            <a:prstDash val="solid"/>
          </a:ln>
        </p:spPr>
      </p:sp>
      <p:sp>
        <p:nvSpPr>
          <p:cNvPr id="7" name="Text 5"/>
          <p:cNvSpPr/>
          <p:nvPr/>
        </p:nvSpPr>
        <p:spPr>
          <a:xfrm>
            <a:off x="457200" y="1143000"/>
            <a:ext cx="822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1</a:t>
            </a:r>
            <a:endParaRPr lang="en-US" sz="3200" dirty="0"/>
          </a:p>
        </p:txBody>
      </p:sp>
      <p:sp>
        <p:nvSpPr>
          <p:cNvPr id="8" name="Text 6"/>
          <p:cNvSpPr/>
          <p:nvPr/>
        </p:nvSpPr>
        <p:spPr>
          <a:xfrm>
            <a:off x="1554480" y="1097280"/>
            <a:ext cx="10058400" cy="365760"/>
          </a:xfrm>
          <a:prstGeom prst="rect">
            <a:avLst/>
          </a:prstGeom>
          <a:noFill/>
          <a:ln/>
        </p:spPr>
        <p:txBody>
          <a:bodyPr wrap="square" rtlCol="0" anchor="ctr"/>
          <a:lstStyle/>
          <a:p>
            <a:pPr indent="0" marL="0">
              <a:buNone/>
            </a:pPr>
            <a:r>
              <a:rPr lang="en-US" sz="1600" b="1" dirty="0">
                <a:solidFill>
                  <a:srgbClr val="1A365D"/>
                </a:solidFill>
                <a:latin typeface="Calibri" pitchFamily="34" charset="0"/>
                <a:ea typeface="Calibri" pitchFamily="34" charset="-122"/>
                <a:cs typeface="Calibri" pitchFamily="34" charset="-120"/>
              </a:rPr>
              <a:t>Géographie &amp; secteur</a:t>
            </a:r>
            <a:endParaRPr lang="en-US" sz="1600" dirty="0"/>
          </a:p>
        </p:txBody>
      </p:sp>
      <p:sp>
        <p:nvSpPr>
          <p:cNvPr id="9" name="Text 7"/>
          <p:cNvSpPr/>
          <p:nvPr/>
        </p:nvSpPr>
        <p:spPr>
          <a:xfrm>
            <a:off x="1554480" y="1463040"/>
            <a:ext cx="10058400" cy="6400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Banque marocaine. Cadre RGPD/eIDAS/DORA UE devient Loi 09-08 (CNDP) + Loi 43-20 (signature) + circulaires Bank Al-Maghrib + DGSSI/DNSSI + Loi 05-20 cybersécurité.</a:t>
            </a:r>
            <a:endParaRPr lang="en-US" sz="1200" dirty="0"/>
          </a:p>
        </p:txBody>
      </p:sp>
      <p:sp>
        <p:nvSpPr>
          <p:cNvPr id="10" name="Shape 8"/>
          <p:cNvSpPr/>
          <p:nvPr/>
        </p:nvSpPr>
        <p:spPr>
          <a:xfrm>
            <a:off x="457200" y="2423160"/>
            <a:ext cx="822960" cy="822960"/>
          </a:xfrm>
          <a:prstGeom prst="ellipse">
            <a:avLst/>
          </a:prstGeom>
          <a:solidFill>
            <a:srgbClr val="2C7A7B"/>
          </a:solidFill>
          <a:ln w="12700">
            <a:solidFill>
              <a:srgbClr val="2C7A7B"/>
            </a:solidFill>
            <a:prstDash val="solid"/>
          </a:ln>
        </p:spPr>
      </p:sp>
      <p:sp>
        <p:nvSpPr>
          <p:cNvPr id="11" name="Text 9"/>
          <p:cNvSpPr/>
          <p:nvPr/>
        </p:nvSpPr>
        <p:spPr>
          <a:xfrm>
            <a:off x="457200" y="2423160"/>
            <a:ext cx="822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2</a:t>
            </a:r>
            <a:endParaRPr lang="en-US" sz="3200" dirty="0"/>
          </a:p>
        </p:txBody>
      </p:sp>
      <p:sp>
        <p:nvSpPr>
          <p:cNvPr id="12" name="Text 10"/>
          <p:cNvSpPr/>
          <p:nvPr/>
        </p:nvSpPr>
        <p:spPr>
          <a:xfrm>
            <a:off x="1554480" y="2377440"/>
            <a:ext cx="10058400" cy="365760"/>
          </a:xfrm>
          <a:prstGeom prst="rect">
            <a:avLst/>
          </a:prstGeom>
          <a:noFill/>
          <a:ln/>
        </p:spPr>
        <p:txBody>
          <a:bodyPr wrap="square" rtlCol="0" anchor="ctr"/>
          <a:lstStyle/>
          <a:p>
            <a:pPr indent="0" marL="0">
              <a:buNone/>
            </a:pPr>
            <a:r>
              <a:rPr lang="en-US" sz="1600" b="1" dirty="0">
                <a:solidFill>
                  <a:srgbClr val="1A365D"/>
                </a:solidFill>
                <a:latin typeface="Calibri" pitchFamily="34" charset="0"/>
                <a:ea typeface="Calibri" pitchFamily="34" charset="-122"/>
                <a:cs typeface="Calibri" pitchFamily="34" charset="-120"/>
              </a:rPr>
              <a:t>Plateforme e-signature interne</a:t>
            </a:r>
            <a:endParaRPr lang="en-US" sz="1600" dirty="0"/>
          </a:p>
        </p:txBody>
      </p:sp>
      <p:sp>
        <p:nvSpPr>
          <p:cNvPr id="13" name="Text 11"/>
          <p:cNvSpPr/>
          <p:nvPr/>
        </p:nvSpPr>
        <p:spPr>
          <a:xfrm>
            <a:off x="1554480" y="2743200"/>
            <a:ext cx="10058400" cy="6400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La banque dispose déjà d'une plateforme. Universign + HSM Thales + PSCo externe SUPPRIMÉS. Intégration via API REST. Agrément DGSSI à auditer.</a:t>
            </a:r>
            <a:endParaRPr lang="en-US" sz="1200" dirty="0"/>
          </a:p>
        </p:txBody>
      </p:sp>
      <p:sp>
        <p:nvSpPr>
          <p:cNvPr id="14" name="Shape 12"/>
          <p:cNvSpPr/>
          <p:nvPr/>
        </p:nvSpPr>
        <p:spPr>
          <a:xfrm>
            <a:off x="457200" y="3703320"/>
            <a:ext cx="822960" cy="822960"/>
          </a:xfrm>
          <a:prstGeom prst="ellipse">
            <a:avLst/>
          </a:prstGeom>
          <a:solidFill>
            <a:srgbClr val="DD6B20"/>
          </a:solidFill>
          <a:ln w="12700">
            <a:solidFill>
              <a:srgbClr val="DD6B20"/>
            </a:solidFill>
            <a:prstDash val="solid"/>
          </a:ln>
        </p:spPr>
      </p:sp>
      <p:sp>
        <p:nvSpPr>
          <p:cNvPr id="15" name="Text 13"/>
          <p:cNvSpPr/>
          <p:nvPr/>
        </p:nvSpPr>
        <p:spPr>
          <a:xfrm>
            <a:off x="457200" y="3703320"/>
            <a:ext cx="822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6" name="Text 14"/>
          <p:cNvSpPr/>
          <p:nvPr/>
        </p:nvSpPr>
        <p:spPr>
          <a:xfrm>
            <a:off x="1554480" y="3657600"/>
            <a:ext cx="10058400" cy="365760"/>
          </a:xfrm>
          <a:prstGeom prst="rect">
            <a:avLst/>
          </a:prstGeom>
          <a:noFill/>
          <a:ln/>
        </p:spPr>
        <p:txBody>
          <a:bodyPr wrap="square" rtlCol="0" anchor="ctr"/>
          <a:lstStyle/>
          <a:p>
            <a:pPr indent="0" marL="0">
              <a:buNone/>
            </a:pPr>
            <a:r>
              <a:rPr lang="en-US" sz="1600" b="1" dirty="0">
                <a:solidFill>
                  <a:srgbClr val="1A365D"/>
                </a:solidFill>
                <a:latin typeface="Calibri" pitchFamily="34" charset="0"/>
                <a:ea typeface="Calibri" pitchFamily="34" charset="-122"/>
                <a:cs typeface="Calibri" pitchFamily="34" charset="-120"/>
              </a:rPr>
              <a:t>Plateforme GED / archivage interne</a:t>
            </a:r>
            <a:endParaRPr lang="en-US" sz="1600" dirty="0"/>
          </a:p>
        </p:txBody>
      </p:sp>
      <p:sp>
        <p:nvSpPr>
          <p:cNvPr id="17" name="Text 15"/>
          <p:cNvSpPr/>
          <p:nvPr/>
        </p:nvSpPr>
        <p:spPr>
          <a:xfrm>
            <a:off x="1554480" y="4023360"/>
            <a:ext cx="10058400" cy="6400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La banque dispose déjà d'une GED. S3 + KMS + cycle de vie SUPPRIMÉS. Intégration via API REST. Conformité circulaire BAM 5/W/2017 archivage.</a:t>
            </a:r>
            <a:endParaRPr lang="en-US" sz="1200" dirty="0"/>
          </a:p>
        </p:txBody>
      </p:sp>
      <p:sp>
        <p:nvSpPr>
          <p:cNvPr id="18" name="Shape 16"/>
          <p:cNvSpPr/>
          <p:nvPr/>
        </p:nvSpPr>
        <p:spPr>
          <a:xfrm>
            <a:off x="457200" y="4983480"/>
            <a:ext cx="822960" cy="822960"/>
          </a:xfrm>
          <a:prstGeom prst="ellipse">
            <a:avLst/>
          </a:prstGeom>
          <a:solidFill>
            <a:srgbClr val="38A169"/>
          </a:solidFill>
          <a:ln w="12700">
            <a:solidFill>
              <a:srgbClr val="38A169"/>
            </a:solidFill>
            <a:prstDash val="solid"/>
          </a:ln>
        </p:spPr>
      </p:sp>
      <p:sp>
        <p:nvSpPr>
          <p:cNvPr id="19" name="Text 17"/>
          <p:cNvSpPr/>
          <p:nvPr/>
        </p:nvSpPr>
        <p:spPr>
          <a:xfrm>
            <a:off x="457200" y="4983480"/>
            <a:ext cx="822960" cy="82296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4</a:t>
            </a:r>
            <a:endParaRPr lang="en-US" sz="3200" dirty="0"/>
          </a:p>
        </p:txBody>
      </p:sp>
      <p:sp>
        <p:nvSpPr>
          <p:cNvPr id="20" name="Text 18"/>
          <p:cNvSpPr/>
          <p:nvPr/>
        </p:nvSpPr>
        <p:spPr>
          <a:xfrm>
            <a:off x="1554480" y="4937760"/>
            <a:ext cx="10058400" cy="365760"/>
          </a:xfrm>
          <a:prstGeom prst="rect">
            <a:avLst/>
          </a:prstGeom>
          <a:noFill/>
          <a:ln/>
        </p:spPr>
        <p:txBody>
          <a:bodyPr wrap="square" rtlCol="0" anchor="ctr"/>
          <a:lstStyle/>
          <a:p>
            <a:pPr indent="0" marL="0">
              <a:buNone/>
            </a:pPr>
            <a:r>
              <a:rPr lang="en-US" sz="1600" b="1" dirty="0">
                <a:solidFill>
                  <a:srgbClr val="1A365D"/>
                </a:solidFill>
                <a:latin typeface="Calibri" pitchFamily="34" charset="0"/>
                <a:ea typeface="Calibri" pitchFamily="34" charset="-122"/>
                <a:cs typeface="Calibri" pitchFamily="34" charset="-120"/>
              </a:rPr>
              <a:t>Mode solo + Claude</a:t>
            </a:r>
            <a:endParaRPr lang="en-US" sz="1600" dirty="0"/>
          </a:p>
        </p:txBody>
      </p:sp>
      <p:sp>
        <p:nvSpPr>
          <p:cNvPr id="21" name="Text 19"/>
          <p:cNvSpPr/>
          <p:nvPr/>
        </p:nvSpPr>
        <p:spPr>
          <a:xfrm>
            <a:off x="1554480" y="5303520"/>
            <a:ext cx="10058400" cy="640080"/>
          </a:xfrm>
          <a:prstGeom prst="rect">
            <a:avLst/>
          </a:prstGeom>
          <a:noFill/>
          <a:ln/>
        </p:spPr>
        <p:txBody>
          <a:bodyPr wrap="square" rtlCol="0" anchor="t"/>
          <a:lstStyle/>
          <a:p>
            <a:pPr indent="0" marL="0">
              <a:buNone/>
            </a:pPr>
            <a:r>
              <a:rPr lang="en-US" sz="1200" dirty="0">
                <a:solidFill>
                  <a:srgbClr val="4A5568"/>
                </a:solidFill>
                <a:latin typeface="Calibri" pitchFamily="34" charset="0"/>
                <a:ea typeface="Calibri" pitchFamily="34" charset="-122"/>
                <a:cs typeface="Calibri" pitchFamily="34" charset="-120"/>
              </a:rPr>
              <a:t>Un développeur unique assisté par Claude. Équipe 12 ETP / 18 mois SUPPRIMÉE. Effort exprimé en JH. Budget en MAD. Bus factor = 1 à gouverner.</a:t>
            </a:r>
            <a:endParaRPr lang="en-US" sz="1200" dirty="0"/>
          </a:p>
        </p:txBody>
      </p:sp>
      <p:sp>
        <p:nvSpPr>
          <p:cNvPr id="22" name="Shape 20"/>
          <p:cNvSpPr/>
          <p:nvPr/>
        </p:nvSpPr>
        <p:spPr>
          <a:xfrm>
            <a:off x="457200" y="6537960"/>
            <a:ext cx="11247120" cy="0"/>
          </a:xfrm>
          <a:prstGeom prst="line">
            <a:avLst/>
          </a:prstGeom>
          <a:noFill/>
          <a:ln w="9525">
            <a:solidFill>
              <a:srgbClr val="E2E8F0"/>
            </a:solidFill>
            <a:prstDash val="solid"/>
          </a:ln>
        </p:spPr>
      </p:sp>
      <p:sp>
        <p:nvSpPr>
          <p:cNvPr id="23" name="Text 21"/>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24" name="Text 22"/>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Cadre réglementaire applicable</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Maroc / banque - principaux textes opposables</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Text 4"/>
          <p:cNvSpPr/>
          <p:nvPr/>
        </p:nvSpPr>
        <p:spPr>
          <a:xfrm>
            <a:off x="457200" y="914400"/>
            <a:ext cx="5577840" cy="365760"/>
          </a:xfrm>
          <a:prstGeom prst="rect">
            <a:avLst/>
          </a:prstGeom>
          <a:noFill/>
          <a:ln/>
        </p:spPr>
        <p:txBody>
          <a:bodyPr wrap="square" rtlCol="0" anchor="ctr"/>
          <a:lstStyle/>
          <a:p>
            <a:pPr algn="ctr" indent="0" marL="0">
              <a:buNone/>
            </a:pPr>
            <a:r>
              <a:rPr lang="en-US" sz="1400" b="1" dirty="0">
                <a:solidFill>
                  <a:srgbClr val="4A5568"/>
                </a:solidFill>
                <a:latin typeface="Calibri" pitchFamily="34" charset="0"/>
                <a:ea typeface="Calibri" pitchFamily="34" charset="-122"/>
                <a:cs typeface="Calibri" pitchFamily="34" charset="-120"/>
              </a:rPr>
              <a:t>Avant (UE)</a:t>
            </a:r>
            <a:endParaRPr lang="en-US" sz="1400" dirty="0"/>
          </a:p>
        </p:txBody>
      </p:sp>
      <p:sp>
        <p:nvSpPr>
          <p:cNvPr id="7" name="Text 5"/>
          <p:cNvSpPr/>
          <p:nvPr/>
        </p:nvSpPr>
        <p:spPr>
          <a:xfrm>
            <a:off x="6126480" y="914400"/>
            <a:ext cx="5577840" cy="365760"/>
          </a:xfrm>
          <a:prstGeom prst="rect">
            <a:avLst/>
          </a:prstGeom>
          <a:noFill/>
          <a:ln/>
        </p:spPr>
        <p:txBody>
          <a:bodyPr wrap="square" rtlCol="0" anchor="ctr"/>
          <a:lstStyle/>
          <a:p>
            <a:pPr algn="ctr" indent="0" marL="0">
              <a:buNone/>
            </a:pPr>
            <a:r>
              <a:rPr lang="en-US" sz="1400" b="1" dirty="0">
                <a:solidFill>
                  <a:srgbClr val="1A365D"/>
                </a:solidFill>
                <a:latin typeface="Calibri" pitchFamily="34" charset="0"/>
                <a:ea typeface="Calibri" pitchFamily="34" charset="-122"/>
                <a:cs typeface="Calibri" pitchFamily="34" charset="-120"/>
              </a:rPr>
              <a:t>Après (Maroc / banque)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2377440"/>
                <a:gridCol w="3840480"/>
                <a:gridCol w="5029200"/>
              </a:tblGrid>
              <a:tr h="5029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Domaine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Avant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A5568"/>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Après (Maroc / banque)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Données personnelles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RGPD (UE 2016/679)</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Loi 09-08 + CNDP (déclaration préalable, art. 12)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Signature électronique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eIDAS (UE 910/2014) - SES/AdES/QES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Loi 43-20 - SES/SEA/SEQ - PSCo agréés DGSSI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Sécurité SI bancaire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DORA (UE 2022/2554)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Circulaire BAM 03/W/2016 (gouvernance 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Cybersécurité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NIS2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Loi 05-20 cybersécurité + DGSSI/DNSSI (OIV)</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Transferts hors pays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Schrems II / SCC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Article 43 Loi 09-08 - autorisation CNDP transfert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Preuve électronique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Code civil UE - preuve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DOC art. 417-1, 417-2 + Code de commerce 15-95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LAB-FT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AMLD 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Loi 43-05 LAB-FT + UTRF</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Continuité d'activité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PCA (réglementation locale)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Circulaire BAM 5/W/2017 - PCA / RTO / RPO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9" name="Shape 6"/>
          <p:cNvSpPr/>
          <p:nvPr/>
        </p:nvSpPr>
        <p:spPr>
          <a:xfrm>
            <a:off x="457200" y="6537960"/>
            <a:ext cx="11247120" cy="0"/>
          </a:xfrm>
          <a:prstGeom prst="line">
            <a:avLst/>
          </a:prstGeom>
          <a:noFill/>
          <a:ln w="9525">
            <a:solidFill>
              <a:srgbClr val="E2E8F0"/>
            </a:solidFill>
            <a:prstDash val="solid"/>
          </a:ln>
        </p:spPr>
      </p:sp>
      <p:sp>
        <p:nvSpPr>
          <p:cNvPr id="10" name="Text 7"/>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11" name="Text 8"/>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Loi 43-20 - Trois niveaux de signature électronique</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Force probante et cas d'usage parapheur</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1645920"/>
                <a:gridCol w="1828800"/>
                <a:gridCol w="3200400"/>
                <a:gridCol w="4572000"/>
              </a:tblGrid>
              <a:tr h="8686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Niveau</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Équivalent eIDAS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Force probante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Cas d'usage parapheur</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868680">
                <a:tc>
                  <a:txBody>
                    <a:bodyPr/>
                    <a:lstStyle/>
                    <a:p>
                      <a:pPr indent="0" marL="0">
                        <a:buNone/>
                      </a:pPr>
                      <a:r>
                        <a:rPr lang="en-US" sz="1200" b="1" dirty="0">
                          <a:solidFill>
                            <a:srgbClr val="2C7A7B"/>
                          </a:solidFill>
                          <a:latin typeface="Calibri" pitchFamily="34" charset="0"/>
                          <a:ea typeface="Calibri" pitchFamily="34" charset="-122"/>
                          <a:cs typeface="Calibri" pitchFamily="34" charset="-120"/>
                        </a:rPr>
                        <a:t>SES</a:t>
                      </a:r>
                      <a:endParaRPr lang="en-US" sz="1200" dirty="0">
                        <a:latin typeface="Calibri" charset="0"/>
                        <a:ea typeface="Calibri" charset="0"/>
                        <a:cs typeface="Calibri" charset="0"/>
                      </a:endParaRPr>
                    </a:p>
                    <a:p>
                      <a:pPr indent="0" marL="0">
                        <a:buNone/>
                      </a:pPr>
                      <a:r>
                        <a:rPr lang="en-US" sz="1200" b="1" dirty="0">
                          <a:solidFill>
                            <a:srgbClr val="2C7A7B"/>
                          </a:solidFill>
                          <a:latin typeface="Calibri" pitchFamily="34" charset="0"/>
                          <a:ea typeface="Calibri" pitchFamily="34" charset="-122"/>
                          <a:cs typeface="Calibri" pitchFamily="34" charset="-120"/>
                        </a:rPr>
                        <a:t>Simple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SES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Recevable, à apprécier par le juge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A365D"/>
                          </a:solidFill>
                          <a:latin typeface="Calibri" pitchFamily="34" charset="0"/>
                          <a:ea typeface="Calibri" pitchFamily="34" charset="-122"/>
                          <a:cs typeface="Calibri" pitchFamily="34" charset="-120"/>
                        </a:rPr>
                        <a:t>Délégations internes, accusés de réception, validations &lt; 50 K MAD</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868680">
                <a:tc>
                  <a:txBody>
                    <a:bodyPr/>
                    <a:lstStyle/>
                    <a:p>
                      <a:pPr indent="0" marL="0">
                        <a:buNone/>
                      </a:pPr>
                      <a:r>
                        <a:rPr lang="en-US" sz="1200" b="1" dirty="0">
                          <a:solidFill>
                            <a:srgbClr val="DD6B20"/>
                          </a:solidFill>
                          <a:latin typeface="Calibri" pitchFamily="34" charset="0"/>
                          <a:ea typeface="Calibri" pitchFamily="34" charset="-122"/>
                          <a:cs typeface="Calibri" pitchFamily="34" charset="-120"/>
                        </a:rPr>
                        <a:t>SEA</a:t>
                      </a:r>
                      <a:endParaRPr lang="en-US" sz="1200" dirty="0">
                        <a:latin typeface="Calibri" charset="0"/>
                        <a:ea typeface="Calibri" charset="0"/>
                        <a:cs typeface="Calibri" charset="0"/>
                      </a:endParaRPr>
                    </a:p>
                    <a:p>
                      <a:pPr indent="0" marL="0">
                        <a:buNone/>
                      </a:pPr>
                      <a:r>
                        <a:rPr lang="en-US" sz="1200" b="1" dirty="0">
                          <a:solidFill>
                            <a:srgbClr val="DD6B20"/>
                          </a:solidFill>
                          <a:latin typeface="Calibri" pitchFamily="34" charset="0"/>
                          <a:ea typeface="Calibri" pitchFamily="34" charset="-122"/>
                          <a:cs typeface="Calibri" pitchFamily="34" charset="-120"/>
                        </a:rPr>
                        <a:t>Avancée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AdES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Recevable, force probante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A365D"/>
                          </a:solidFill>
                          <a:latin typeface="Calibri" pitchFamily="34" charset="0"/>
                          <a:ea typeface="Calibri" pitchFamily="34" charset="-122"/>
                          <a:cs typeface="Calibri" pitchFamily="34" charset="-120"/>
                        </a:rPr>
                        <a:t>Décisions internes, ordres de mission, validations 50 K - 5 M MAD</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868680">
                <a:tc>
                  <a:txBody>
                    <a:bodyPr/>
                    <a:lstStyle/>
                    <a:p>
                      <a:pPr indent="0" marL="0">
                        <a:buNone/>
                      </a:pPr>
                      <a:r>
                        <a:rPr lang="en-US" sz="1200" b="1" dirty="0">
                          <a:solidFill>
                            <a:srgbClr val="38A169"/>
                          </a:solidFill>
                          <a:latin typeface="Calibri" pitchFamily="34" charset="0"/>
                          <a:ea typeface="Calibri" pitchFamily="34" charset="-122"/>
                          <a:cs typeface="Calibri" pitchFamily="34" charset="-120"/>
                        </a:rPr>
                        <a:t>SEQ</a:t>
                      </a:r>
                      <a:endParaRPr lang="en-US" sz="1200" dirty="0">
                        <a:latin typeface="Calibri" charset="0"/>
                        <a:ea typeface="Calibri" charset="0"/>
                        <a:cs typeface="Calibri" charset="0"/>
                      </a:endParaRPr>
                    </a:p>
                    <a:p>
                      <a:pPr indent="0" marL="0">
                        <a:buNone/>
                      </a:pPr>
                      <a:r>
                        <a:rPr lang="en-US" sz="1200" b="1" dirty="0">
                          <a:solidFill>
                            <a:srgbClr val="38A169"/>
                          </a:solidFill>
                          <a:latin typeface="Calibri" pitchFamily="34" charset="0"/>
                          <a:ea typeface="Calibri" pitchFamily="34" charset="-122"/>
                          <a:cs typeface="Calibri" pitchFamily="34" charset="-120"/>
                        </a:rPr>
                        <a:t>Qualifiée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indent="0" marL="0">
                        <a:buNone/>
                      </a:pPr>
                      <a:r>
                        <a:rPr lang="en-US" sz="1200" dirty="0">
                          <a:solidFill>
                            <a:srgbClr val="4A5568"/>
                          </a:solidFill>
                          <a:latin typeface="Calibri" pitchFamily="34" charset="0"/>
                          <a:ea typeface="Calibri" pitchFamily="34" charset="-122"/>
                          <a:cs typeface="Calibri" pitchFamily="34" charset="-120"/>
                        </a:rPr>
                        <a:t>QES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38A169"/>
                          </a:solidFill>
                          <a:latin typeface="Calibri" pitchFamily="34" charset="0"/>
                          <a:ea typeface="Calibri" pitchFamily="34" charset="-122"/>
                          <a:cs typeface="Calibri" pitchFamily="34" charset="-120"/>
                        </a:rPr>
                        <a:t>Équivalente à signature manuscrite (DOC art. 417-1)</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1A365D"/>
                          </a:solidFill>
                          <a:latin typeface="Calibri" pitchFamily="34" charset="0"/>
                          <a:ea typeface="Calibri" pitchFamily="34" charset="-122"/>
                          <a:cs typeface="Calibri" pitchFamily="34" charset="-120"/>
                        </a:rPr>
                        <a:t>Engagements externes, contrats clients, &gt; 5 M MAD, actes notariés</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457200" y="4846320"/>
            <a:ext cx="11247120" cy="1463040"/>
          </a:xfrm>
          <a:prstGeom prst="rect">
            <a:avLst/>
          </a:prstGeom>
          <a:solidFill>
            <a:srgbClr val="FFF7ED"/>
          </a:solidFill>
          <a:ln w="12700">
            <a:solidFill>
              <a:srgbClr val="DD6B20"/>
            </a:solidFill>
            <a:prstDash val="solid"/>
          </a:ln>
        </p:spPr>
      </p:sp>
      <p:sp>
        <p:nvSpPr>
          <p:cNvPr id="8" name="Text 5"/>
          <p:cNvSpPr/>
          <p:nvPr/>
        </p:nvSpPr>
        <p:spPr>
          <a:xfrm>
            <a:off x="640080" y="4937760"/>
            <a:ext cx="10972800" cy="274320"/>
          </a:xfrm>
          <a:prstGeom prst="rect">
            <a:avLst/>
          </a:prstGeom>
          <a:noFill/>
          <a:ln/>
        </p:spPr>
        <p:txBody>
          <a:bodyPr wrap="square" rtlCol="0" anchor="ctr"/>
          <a:lstStyle/>
          <a:p>
            <a:pPr indent="0" marL="0">
              <a:buNone/>
            </a:pPr>
            <a:r>
              <a:rPr lang="en-US" sz="1200" b="1" dirty="0">
                <a:solidFill>
                  <a:srgbClr val="DD6B20"/>
                </a:solidFill>
                <a:latin typeface="Calibri" pitchFamily="34" charset="0"/>
                <a:ea typeface="Calibri" pitchFamily="34" charset="-122"/>
                <a:cs typeface="Calibri" pitchFamily="34" charset="-120"/>
              </a:rPr>
              <a:t>Question critique COPIL</a:t>
            </a:r>
            <a:endParaRPr lang="en-US" sz="1200" dirty="0"/>
          </a:p>
        </p:txBody>
      </p:sp>
      <p:sp>
        <p:nvSpPr>
          <p:cNvPr id="9" name="Text 6"/>
          <p:cNvSpPr/>
          <p:nvPr/>
        </p:nvSpPr>
        <p:spPr>
          <a:xfrm>
            <a:off x="640080" y="5212080"/>
            <a:ext cx="10972800" cy="365760"/>
          </a:xfrm>
          <a:prstGeom prst="rect">
            <a:avLst/>
          </a:prstGeom>
          <a:noFill/>
          <a:ln/>
        </p:spPr>
        <p:txBody>
          <a:bodyPr wrap="square" rtlCol="0" anchor="ctr"/>
          <a:lstStyle/>
          <a:p>
            <a:pPr indent="0" marL="0">
              <a:buNone/>
            </a:pPr>
            <a:r>
              <a:rPr lang="en-US" sz="1400" b="1" dirty="0">
                <a:solidFill>
                  <a:srgbClr val="1A365D"/>
                </a:solidFill>
                <a:latin typeface="Calibri" pitchFamily="34" charset="0"/>
                <a:ea typeface="Calibri" pitchFamily="34" charset="-122"/>
                <a:cs typeface="Calibri" pitchFamily="34" charset="-120"/>
              </a:rPr>
              <a:t>La plateforme e-signature interne de la banque est-elle agréée DGSSI comme PSCo qualifié ?</a:t>
            </a:r>
            <a:endParaRPr lang="en-US" sz="1400" dirty="0"/>
          </a:p>
        </p:txBody>
      </p:sp>
      <p:sp>
        <p:nvSpPr>
          <p:cNvPr id="10" name="Text 7"/>
          <p:cNvSpPr/>
          <p:nvPr/>
        </p:nvSpPr>
        <p:spPr>
          <a:xfrm>
            <a:off x="640080" y="5577840"/>
            <a:ext cx="10972800" cy="640080"/>
          </a:xfrm>
          <a:prstGeom prst="rect">
            <a:avLst/>
          </a:prstGeom>
          <a:noFill/>
          <a:ln/>
        </p:spPr>
        <p:txBody>
          <a:bodyPr wrap="square" rtlCol="0" anchor="t"/>
          <a:lstStyle/>
          <a:p>
            <a:pPr indent="0" marL="0">
              <a:buNone/>
            </a:pPr>
            <a:r>
              <a:rPr lang="en-US" sz="1100" dirty="0">
                <a:solidFill>
                  <a:srgbClr val="4A5568"/>
                </a:solidFill>
                <a:latin typeface="Calibri" pitchFamily="34" charset="0"/>
                <a:ea typeface="Calibri" pitchFamily="34" charset="-122"/>
                <a:cs typeface="Calibri" pitchFamily="34" charset="-120"/>
              </a:rPr>
              <a:t>Si oui : SEQ disponible -&gt; équivalence manuscrite pour engagements externes.</a:t>
            </a:r>
            <a:endParaRPr lang="en-US" sz="1100" dirty="0"/>
          </a:p>
          <a:p>
            <a:pPr indent="0" marL="0">
              <a:buNone/>
            </a:pPr>
            <a:r>
              <a:rPr lang="en-US" sz="1100" dirty="0">
                <a:solidFill>
                  <a:srgbClr val="4A5568"/>
                </a:solidFill>
                <a:latin typeface="Calibri" pitchFamily="34" charset="0"/>
                <a:ea typeface="Calibri" pitchFamily="34" charset="-122"/>
                <a:cs typeface="Calibri" pitchFamily="34" charset="-120"/>
              </a:rPr>
              <a:t>Si non : niveau plafonné à SEA -&gt; politique compensatoire requise pour engagements &gt; 5 M MAD (PSCo externe Barid eSign / Maroc Telecom Trust, ou signature physique en complément).</a:t>
            </a:r>
            <a:endParaRPr lang="en-US" sz="1100" dirty="0"/>
          </a:p>
        </p:txBody>
      </p:sp>
      <p:sp>
        <p:nvSpPr>
          <p:cNvPr id="11" name="Shape 8"/>
          <p:cNvSpPr/>
          <p:nvPr/>
        </p:nvSpPr>
        <p:spPr>
          <a:xfrm>
            <a:off x="457200" y="6537960"/>
            <a:ext cx="11247120" cy="0"/>
          </a:xfrm>
          <a:prstGeom prst="line">
            <a:avLst/>
          </a:prstGeom>
          <a:noFill/>
          <a:ln w="9525">
            <a:solidFill>
              <a:srgbClr val="E2E8F0"/>
            </a:solidFill>
            <a:prstDash val="solid"/>
          </a:ln>
        </p:spPr>
      </p:sp>
      <p:sp>
        <p:nvSpPr>
          <p:cNvPr id="12" name="Text 9"/>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13" name="Text 10"/>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Architecture cible révisée</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5 microservices - intégration via API plateformes internes</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Shape 4"/>
          <p:cNvSpPr/>
          <p:nvPr/>
        </p:nvSpPr>
        <p:spPr>
          <a:xfrm>
            <a:off x="457200" y="914400"/>
            <a:ext cx="11247120" cy="457200"/>
          </a:xfrm>
          <a:prstGeom prst="rect">
            <a:avLst/>
          </a:prstGeom>
          <a:solidFill>
            <a:srgbClr val="1A365D"/>
          </a:solidFill>
          <a:ln w="12700">
            <a:solidFill>
              <a:srgbClr val="1A365D"/>
            </a:solidFill>
            <a:prstDash val="solid"/>
          </a:ln>
        </p:spPr>
      </p:sp>
      <p:sp>
        <p:nvSpPr>
          <p:cNvPr id="7" name="Text 5"/>
          <p:cNvSpPr/>
          <p:nvPr/>
        </p:nvSpPr>
        <p:spPr>
          <a:xfrm>
            <a:off x="457200" y="960120"/>
            <a:ext cx="1124712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Frontend Web (React 18 + TypeScript) + PWA mobile - i18n FR/AR (RTL) - Auth AD banque + MFA OTP</a:t>
            </a:r>
            <a:endParaRPr lang="en-US" sz="1200" dirty="0"/>
          </a:p>
        </p:txBody>
      </p:sp>
      <p:sp>
        <p:nvSpPr>
          <p:cNvPr id="8" name="Shape 6"/>
          <p:cNvSpPr/>
          <p:nvPr/>
        </p:nvSpPr>
        <p:spPr>
          <a:xfrm>
            <a:off x="457200" y="1463040"/>
            <a:ext cx="11247120" cy="365760"/>
          </a:xfrm>
          <a:prstGeom prst="rect">
            <a:avLst/>
          </a:prstGeom>
          <a:solidFill>
            <a:srgbClr val="4A5568"/>
          </a:solidFill>
          <a:ln w="12700">
            <a:solidFill>
              <a:srgbClr val="4A5568"/>
            </a:solidFill>
            <a:prstDash val="solid"/>
          </a:ln>
        </p:spPr>
      </p:sp>
      <p:sp>
        <p:nvSpPr>
          <p:cNvPr id="9" name="Text 7"/>
          <p:cNvSpPr/>
          <p:nvPr/>
        </p:nvSpPr>
        <p:spPr>
          <a:xfrm>
            <a:off x="457200" y="1463040"/>
            <a:ext cx="11247120" cy="36576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API Gateway (Kong / NGINX) - AuthZ, rate-limit, audit log</a:t>
            </a:r>
            <a:endParaRPr lang="en-US" sz="1100" dirty="0"/>
          </a:p>
        </p:txBody>
      </p:sp>
      <p:sp>
        <p:nvSpPr>
          <p:cNvPr id="10" name="Shape 8"/>
          <p:cNvSpPr/>
          <p:nvPr/>
        </p:nvSpPr>
        <p:spPr>
          <a:xfrm>
            <a:off x="457200" y="1965960"/>
            <a:ext cx="2103120" cy="914400"/>
          </a:xfrm>
          <a:prstGeom prst="rect">
            <a:avLst/>
          </a:prstGeom>
          <a:solidFill>
            <a:srgbClr val="2C7A7B"/>
          </a:solidFill>
          <a:ln w="12700">
            <a:solidFill>
              <a:srgbClr val="2C7A7B"/>
            </a:solidFill>
            <a:prstDash val="solid"/>
          </a:ln>
        </p:spPr>
      </p:sp>
      <p:sp>
        <p:nvSpPr>
          <p:cNvPr id="11" name="Text 9"/>
          <p:cNvSpPr/>
          <p:nvPr/>
        </p:nvSpPr>
        <p:spPr>
          <a:xfrm>
            <a:off x="457200" y="2011680"/>
            <a:ext cx="21031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Dossier</a:t>
            </a:r>
            <a:endParaRPr lang="en-US" sz="1100" dirty="0"/>
          </a:p>
        </p:txBody>
      </p:sp>
      <p:sp>
        <p:nvSpPr>
          <p:cNvPr id="12" name="Text 10"/>
          <p:cNvSpPr/>
          <p:nvPr/>
        </p:nvSpPr>
        <p:spPr>
          <a:xfrm>
            <a:off x="548640" y="2468880"/>
            <a:ext cx="192024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CRUD, métadonnées, recherche</a:t>
            </a:r>
            <a:endParaRPr lang="en-US" sz="900" dirty="0"/>
          </a:p>
        </p:txBody>
      </p:sp>
      <p:sp>
        <p:nvSpPr>
          <p:cNvPr id="13" name="Shape 11"/>
          <p:cNvSpPr/>
          <p:nvPr/>
        </p:nvSpPr>
        <p:spPr>
          <a:xfrm>
            <a:off x="2743200" y="1965960"/>
            <a:ext cx="2103120" cy="914400"/>
          </a:xfrm>
          <a:prstGeom prst="rect">
            <a:avLst/>
          </a:prstGeom>
          <a:solidFill>
            <a:srgbClr val="2C7A7B"/>
          </a:solidFill>
          <a:ln w="12700">
            <a:solidFill>
              <a:srgbClr val="2C7A7B"/>
            </a:solidFill>
            <a:prstDash val="solid"/>
          </a:ln>
        </p:spPr>
      </p:sp>
      <p:sp>
        <p:nvSpPr>
          <p:cNvPr id="14" name="Text 12"/>
          <p:cNvSpPr/>
          <p:nvPr/>
        </p:nvSpPr>
        <p:spPr>
          <a:xfrm>
            <a:off x="2743200" y="2011680"/>
            <a:ext cx="21031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Workflow</a:t>
            </a:r>
            <a:endParaRPr lang="en-US" sz="1100" dirty="0"/>
          </a:p>
        </p:txBody>
      </p:sp>
      <p:sp>
        <p:nvSpPr>
          <p:cNvPr id="15" name="Text 13"/>
          <p:cNvSpPr/>
          <p:nvPr/>
        </p:nvSpPr>
        <p:spPr>
          <a:xfrm>
            <a:off x="2834640" y="2468880"/>
            <a:ext cx="192024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Moteur état + règles métier</a:t>
            </a:r>
            <a:endParaRPr lang="en-US" sz="900" dirty="0"/>
          </a:p>
        </p:txBody>
      </p:sp>
      <p:sp>
        <p:nvSpPr>
          <p:cNvPr id="16" name="Shape 14"/>
          <p:cNvSpPr/>
          <p:nvPr/>
        </p:nvSpPr>
        <p:spPr>
          <a:xfrm>
            <a:off x="5029200" y="1965960"/>
            <a:ext cx="2103120" cy="914400"/>
          </a:xfrm>
          <a:prstGeom prst="rect">
            <a:avLst/>
          </a:prstGeom>
          <a:solidFill>
            <a:srgbClr val="2C7A7B"/>
          </a:solidFill>
          <a:ln w="12700">
            <a:solidFill>
              <a:srgbClr val="2C7A7B"/>
            </a:solidFill>
            <a:prstDash val="solid"/>
          </a:ln>
        </p:spPr>
      </p:sp>
      <p:sp>
        <p:nvSpPr>
          <p:cNvPr id="17" name="Text 15"/>
          <p:cNvSpPr/>
          <p:nvPr/>
        </p:nvSpPr>
        <p:spPr>
          <a:xfrm>
            <a:off x="5029200" y="2011680"/>
            <a:ext cx="21031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MS-3</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Notification</a:t>
            </a:r>
            <a:endParaRPr lang="en-US" sz="1100" dirty="0"/>
          </a:p>
        </p:txBody>
      </p:sp>
      <p:sp>
        <p:nvSpPr>
          <p:cNvPr id="18" name="Text 16"/>
          <p:cNvSpPr/>
          <p:nvPr/>
        </p:nvSpPr>
        <p:spPr>
          <a:xfrm>
            <a:off x="5120640" y="2468880"/>
            <a:ext cx="192024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Email, SMS, push</a:t>
            </a:r>
            <a:endParaRPr lang="en-US" sz="900" dirty="0"/>
          </a:p>
        </p:txBody>
      </p:sp>
      <p:sp>
        <p:nvSpPr>
          <p:cNvPr id="19" name="Shape 17"/>
          <p:cNvSpPr/>
          <p:nvPr/>
        </p:nvSpPr>
        <p:spPr>
          <a:xfrm>
            <a:off x="7315200" y="1965960"/>
            <a:ext cx="2103120" cy="914400"/>
          </a:xfrm>
          <a:prstGeom prst="rect">
            <a:avLst/>
          </a:prstGeom>
          <a:solidFill>
            <a:srgbClr val="2C7A7B"/>
          </a:solidFill>
          <a:ln w="12700">
            <a:solidFill>
              <a:srgbClr val="2C7A7B"/>
            </a:solidFill>
            <a:prstDash val="solid"/>
          </a:ln>
        </p:spPr>
      </p:sp>
      <p:sp>
        <p:nvSpPr>
          <p:cNvPr id="20" name="Text 18"/>
          <p:cNvSpPr/>
          <p:nvPr/>
        </p:nvSpPr>
        <p:spPr>
          <a:xfrm>
            <a:off x="7315200" y="2011680"/>
            <a:ext cx="21031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MS-4</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Audit</a:t>
            </a:r>
            <a:endParaRPr lang="en-US" sz="1100" dirty="0"/>
          </a:p>
        </p:txBody>
      </p:sp>
      <p:sp>
        <p:nvSpPr>
          <p:cNvPr id="21" name="Text 19"/>
          <p:cNvSpPr/>
          <p:nvPr/>
        </p:nvSpPr>
        <p:spPr>
          <a:xfrm>
            <a:off x="7406640" y="2468880"/>
            <a:ext cx="192024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Journal immuable</a:t>
            </a:r>
            <a:endParaRPr lang="en-US" sz="900" dirty="0"/>
          </a:p>
        </p:txBody>
      </p:sp>
      <p:sp>
        <p:nvSpPr>
          <p:cNvPr id="22" name="Shape 20"/>
          <p:cNvSpPr/>
          <p:nvPr/>
        </p:nvSpPr>
        <p:spPr>
          <a:xfrm>
            <a:off x="9601200" y="1965960"/>
            <a:ext cx="2103120" cy="914400"/>
          </a:xfrm>
          <a:prstGeom prst="rect">
            <a:avLst/>
          </a:prstGeom>
          <a:solidFill>
            <a:srgbClr val="DD6B20"/>
          </a:solidFill>
          <a:ln w="12700">
            <a:solidFill>
              <a:srgbClr val="DD6B20"/>
            </a:solidFill>
            <a:prstDash val="solid"/>
          </a:ln>
        </p:spPr>
      </p:sp>
      <p:sp>
        <p:nvSpPr>
          <p:cNvPr id="23" name="Text 21"/>
          <p:cNvSpPr/>
          <p:nvPr/>
        </p:nvSpPr>
        <p:spPr>
          <a:xfrm>
            <a:off x="9601200" y="2011680"/>
            <a:ext cx="21031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MS-5/6</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Adapters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e-Sign + GED</a:t>
            </a:r>
            <a:endParaRPr lang="en-US" sz="1100" dirty="0"/>
          </a:p>
        </p:txBody>
      </p:sp>
      <p:sp>
        <p:nvSpPr>
          <p:cNvPr id="24" name="Text 22"/>
          <p:cNvSpPr/>
          <p:nvPr/>
        </p:nvSpPr>
        <p:spPr>
          <a:xfrm>
            <a:off x="9692640" y="2468880"/>
            <a:ext cx="1920240" cy="3657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Façades API internes</a:t>
            </a:r>
            <a:endParaRPr lang="en-US" sz="900" dirty="0"/>
          </a:p>
        </p:txBody>
      </p:sp>
      <p:sp>
        <p:nvSpPr>
          <p:cNvPr id="25" name="Shape 23"/>
          <p:cNvSpPr/>
          <p:nvPr/>
        </p:nvSpPr>
        <p:spPr>
          <a:xfrm>
            <a:off x="457200" y="3017520"/>
            <a:ext cx="7040880" cy="457200"/>
          </a:xfrm>
          <a:prstGeom prst="rect">
            <a:avLst/>
          </a:prstGeom>
          <a:solidFill>
            <a:srgbClr val="F7FAFC"/>
          </a:solidFill>
          <a:ln w="12700">
            <a:solidFill>
              <a:srgbClr val="E2E8F0"/>
            </a:solidFill>
            <a:prstDash val="solid"/>
          </a:ln>
        </p:spPr>
      </p:sp>
      <p:sp>
        <p:nvSpPr>
          <p:cNvPr id="26" name="Text 24"/>
          <p:cNvSpPr/>
          <p:nvPr/>
        </p:nvSpPr>
        <p:spPr>
          <a:xfrm>
            <a:off x="457200" y="3017520"/>
            <a:ext cx="7040880" cy="457200"/>
          </a:xfrm>
          <a:prstGeom prst="rect">
            <a:avLst/>
          </a:prstGeom>
          <a:noFill/>
          <a:ln/>
        </p:spPr>
        <p:txBody>
          <a:bodyPr wrap="square" rtlCol="0" anchor="ctr"/>
          <a:lstStyle/>
          <a:p>
            <a:pPr algn="ctr" indent="0" marL="0">
              <a:buNone/>
            </a:pPr>
            <a:r>
              <a:rPr lang="en-US" sz="1000" dirty="0">
                <a:solidFill>
                  <a:srgbClr val="1A365D"/>
                </a:solidFill>
                <a:latin typeface="Calibri" pitchFamily="34" charset="0"/>
                <a:ea typeface="Calibri" pitchFamily="34" charset="-122"/>
                <a:cs typeface="Calibri" pitchFamily="34" charset="-120"/>
              </a:rPr>
              <a:t>PostgreSQL 16 (état + JSONB)  |  Redis 7 (cache + queue BullMQ)  |  MinIO ou stockage objet interne</a:t>
            </a:r>
            <a:endParaRPr lang="en-US" sz="1000" dirty="0"/>
          </a:p>
        </p:txBody>
      </p:sp>
      <p:sp>
        <p:nvSpPr>
          <p:cNvPr id="27" name="Shape 25"/>
          <p:cNvSpPr/>
          <p:nvPr/>
        </p:nvSpPr>
        <p:spPr>
          <a:xfrm>
            <a:off x="10652760" y="2880360"/>
            <a:ext cx="0" cy="640080"/>
          </a:xfrm>
          <a:prstGeom prst="line">
            <a:avLst/>
          </a:prstGeom>
          <a:noFill/>
          <a:ln w="25400">
            <a:solidFill>
              <a:srgbClr val="DD6B20"/>
            </a:solidFill>
            <a:prstDash val="solid"/>
          </a:ln>
        </p:spPr>
      </p:sp>
      <p:sp>
        <p:nvSpPr>
          <p:cNvPr id="28" name="Shape 26"/>
          <p:cNvSpPr/>
          <p:nvPr/>
        </p:nvSpPr>
        <p:spPr>
          <a:xfrm>
            <a:off x="7680960" y="3520440"/>
            <a:ext cx="1920240" cy="868680"/>
          </a:xfrm>
          <a:prstGeom prst="rect">
            <a:avLst/>
          </a:prstGeom>
          <a:solidFill>
            <a:srgbClr val="FFF7ED"/>
          </a:solidFill>
          <a:ln w="19050">
            <a:solidFill>
              <a:srgbClr val="DD6B20"/>
            </a:solidFill>
            <a:prstDash val="solid"/>
          </a:ln>
        </p:spPr>
      </p:sp>
      <p:sp>
        <p:nvSpPr>
          <p:cNvPr id="29" name="Text 27"/>
          <p:cNvSpPr/>
          <p:nvPr/>
        </p:nvSpPr>
        <p:spPr>
          <a:xfrm>
            <a:off x="7680960" y="3566160"/>
            <a:ext cx="1920240" cy="777240"/>
          </a:xfrm>
          <a:prstGeom prst="rect">
            <a:avLst/>
          </a:prstGeom>
          <a:noFill/>
          <a:ln/>
        </p:spPr>
        <p:txBody>
          <a:bodyPr wrap="square" rtlCol="0" anchor="ctr"/>
          <a:lstStyle/>
          <a:p>
            <a:pPr algn="ctr" indent="0" marL="0">
              <a:buNone/>
            </a:pPr>
            <a:r>
              <a:rPr lang="en-US" sz="1100" b="1" dirty="0">
                <a:solidFill>
                  <a:srgbClr val="DD6B20"/>
                </a:solidFill>
                <a:latin typeface="Calibri" pitchFamily="34" charset="0"/>
                <a:ea typeface="Calibri" pitchFamily="34" charset="-122"/>
                <a:cs typeface="Calibri" pitchFamily="34" charset="-120"/>
              </a:rPr>
              <a:t>Plateforme</a:t>
            </a:r>
            <a:endParaRPr lang="en-US" sz="1100" dirty="0"/>
          </a:p>
          <a:p>
            <a:pPr algn="ctr" indent="0" marL="0">
              <a:buNone/>
            </a:pPr>
            <a:r>
              <a:rPr lang="en-US" sz="1100" b="1" dirty="0">
                <a:solidFill>
                  <a:srgbClr val="DD6B20"/>
                </a:solidFill>
                <a:latin typeface="Calibri" pitchFamily="34" charset="0"/>
                <a:ea typeface="Calibri" pitchFamily="34" charset="-122"/>
                <a:cs typeface="Calibri" pitchFamily="34" charset="-120"/>
              </a:rPr>
              <a:t>E-SIGN INTERNE</a:t>
            </a:r>
            <a:endParaRPr lang="en-US" sz="1100" dirty="0"/>
          </a:p>
          <a:p>
            <a:pPr algn="ctr" indent="0" marL="0">
              <a:buNone/>
            </a:pPr>
            <a:r>
              <a:rPr lang="en-US" sz="1100" b="1" dirty="0">
                <a:solidFill>
                  <a:srgbClr val="DD6B20"/>
                </a:solidFill>
                <a:latin typeface="Calibri" pitchFamily="34" charset="0"/>
                <a:ea typeface="Calibri" pitchFamily="34" charset="-122"/>
                <a:cs typeface="Calibri" pitchFamily="34" charset="-120"/>
              </a:rPr>
              <a:t>(API REST)</a:t>
            </a:r>
            <a:endParaRPr lang="en-US" sz="1100" dirty="0"/>
          </a:p>
        </p:txBody>
      </p:sp>
      <p:sp>
        <p:nvSpPr>
          <p:cNvPr id="30" name="Shape 28"/>
          <p:cNvSpPr/>
          <p:nvPr/>
        </p:nvSpPr>
        <p:spPr>
          <a:xfrm>
            <a:off x="9784080" y="3520440"/>
            <a:ext cx="1920240" cy="868680"/>
          </a:xfrm>
          <a:prstGeom prst="rect">
            <a:avLst/>
          </a:prstGeom>
          <a:solidFill>
            <a:srgbClr val="FFF7ED"/>
          </a:solidFill>
          <a:ln w="19050">
            <a:solidFill>
              <a:srgbClr val="DD6B20"/>
            </a:solidFill>
            <a:prstDash val="solid"/>
          </a:ln>
        </p:spPr>
      </p:sp>
      <p:sp>
        <p:nvSpPr>
          <p:cNvPr id="31" name="Text 29"/>
          <p:cNvSpPr/>
          <p:nvPr/>
        </p:nvSpPr>
        <p:spPr>
          <a:xfrm>
            <a:off x="9784080" y="3566160"/>
            <a:ext cx="1920240" cy="777240"/>
          </a:xfrm>
          <a:prstGeom prst="rect">
            <a:avLst/>
          </a:prstGeom>
          <a:noFill/>
          <a:ln/>
        </p:spPr>
        <p:txBody>
          <a:bodyPr wrap="square" rtlCol="0" anchor="ctr"/>
          <a:lstStyle/>
          <a:p>
            <a:pPr algn="ctr" indent="0" marL="0">
              <a:buNone/>
            </a:pPr>
            <a:r>
              <a:rPr lang="en-US" sz="1100" b="1" dirty="0">
                <a:solidFill>
                  <a:srgbClr val="DD6B20"/>
                </a:solidFill>
                <a:latin typeface="Calibri" pitchFamily="34" charset="0"/>
                <a:ea typeface="Calibri" pitchFamily="34" charset="-122"/>
                <a:cs typeface="Calibri" pitchFamily="34" charset="-120"/>
              </a:rPr>
              <a:t>Plateforme</a:t>
            </a:r>
            <a:endParaRPr lang="en-US" sz="1100" dirty="0"/>
          </a:p>
          <a:p>
            <a:pPr algn="ctr" indent="0" marL="0">
              <a:buNone/>
            </a:pPr>
            <a:r>
              <a:rPr lang="en-US" sz="1100" b="1" dirty="0">
                <a:solidFill>
                  <a:srgbClr val="DD6B20"/>
                </a:solidFill>
                <a:latin typeface="Calibri" pitchFamily="34" charset="0"/>
                <a:ea typeface="Calibri" pitchFamily="34" charset="-122"/>
                <a:cs typeface="Calibri" pitchFamily="34" charset="-120"/>
              </a:rPr>
              <a:t>GED INTERNE</a:t>
            </a:r>
            <a:endParaRPr lang="en-US" sz="1100" dirty="0"/>
          </a:p>
          <a:p>
            <a:pPr algn="ctr" indent="0" marL="0">
              <a:buNone/>
            </a:pPr>
            <a:r>
              <a:rPr lang="en-US" sz="1100" b="1" dirty="0">
                <a:solidFill>
                  <a:srgbClr val="DD6B20"/>
                </a:solidFill>
                <a:latin typeface="Calibri" pitchFamily="34" charset="0"/>
                <a:ea typeface="Calibri" pitchFamily="34" charset="-122"/>
                <a:cs typeface="Calibri" pitchFamily="34" charset="-120"/>
              </a:rPr>
              <a:t>(API REST)</a:t>
            </a:r>
            <a:endParaRPr lang="en-US" sz="1100" dirty="0"/>
          </a:p>
        </p:txBody>
      </p:sp>
      <p:sp>
        <p:nvSpPr>
          <p:cNvPr id="32" name="Shape 30"/>
          <p:cNvSpPr/>
          <p:nvPr/>
        </p:nvSpPr>
        <p:spPr>
          <a:xfrm>
            <a:off x="457200" y="4526280"/>
            <a:ext cx="11247120" cy="365760"/>
          </a:xfrm>
          <a:prstGeom prst="rect">
            <a:avLst/>
          </a:prstGeom>
          <a:solidFill>
            <a:srgbClr val="12253F"/>
          </a:solidFill>
          <a:ln w="12700">
            <a:solidFill>
              <a:srgbClr val="12253F"/>
            </a:solidFill>
            <a:prstDash val="solid"/>
          </a:ln>
        </p:spPr>
      </p:sp>
      <p:sp>
        <p:nvSpPr>
          <p:cNvPr id="33" name="Text 31"/>
          <p:cNvSpPr/>
          <p:nvPr/>
        </p:nvSpPr>
        <p:spPr>
          <a:xfrm>
            <a:off x="457200" y="4526280"/>
            <a:ext cx="1124712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Hébergement : cloud interne banque (préféré) | datacenter Maroc Tier III+ - Observabilité Prometheus + Grafana + Loki</a:t>
            </a:r>
            <a:endParaRPr lang="en-US" sz="1000" dirty="0"/>
          </a:p>
        </p:txBody>
      </p:sp>
      <p:sp>
        <p:nvSpPr>
          <p:cNvPr id="34" name="Text 32"/>
          <p:cNvSpPr/>
          <p:nvPr/>
        </p:nvSpPr>
        <p:spPr>
          <a:xfrm>
            <a:off x="457200" y="5074920"/>
            <a:ext cx="11247120" cy="274320"/>
          </a:xfrm>
          <a:prstGeom prst="rect">
            <a:avLst/>
          </a:prstGeom>
          <a:noFill/>
          <a:ln/>
        </p:spPr>
        <p:txBody>
          <a:bodyPr wrap="square" rtlCol="0" anchor="ctr"/>
          <a:lstStyle/>
          <a:p>
            <a:pPr indent="0" marL="0">
              <a:buNone/>
            </a:pPr>
            <a:r>
              <a:rPr lang="en-US" sz="1200" b="1" dirty="0">
                <a:solidFill>
                  <a:srgbClr val="E53E3E"/>
                </a:solidFill>
                <a:latin typeface="Calibri" pitchFamily="34" charset="0"/>
                <a:ea typeface="Calibri" pitchFamily="34" charset="-122"/>
                <a:cs typeface="Calibri" pitchFamily="34" charset="-120"/>
              </a:rPr>
              <a:t>Composants supprimés vs cadrage initial</a:t>
            </a:r>
            <a:endParaRPr lang="en-US" sz="1200" dirty="0"/>
          </a:p>
        </p:txBody>
      </p:sp>
      <p:sp>
        <p:nvSpPr>
          <p:cNvPr id="35" name="Text 33"/>
          <p:cNvSpPr/>
          <p:nvPr/>
        </p:nvSpPr>
        <p:spPr>
          <a:xfrm>
            <a:off x="640080" y="5349240"/>
            <a:ext cx="54864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MS-Signature dédié + HSM Thales Luna 7 -&gt; délégué à plateforme e-sign banque</a:t>
            </a:r>
            <a:endParaRPr lang="en-US" sz="1000" dirty="0"/>
          </a:p>
        </p:txBody>
      </p:sp>
      <p:sp>
        <p:nvSpPr>
          <p:cNvPr id="36" name="Text 34"/>
          <p:cNvSpPr/>
          <p:nvPr/>
        </p:nvSpPr>
        <p:spPr>
          <a:xfrm>
            <a:off x="6217920" y="5349240"/>
            <a:ext cx="54864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MS-Archivage + S3 Glacier + KMS -&gt; délégué à GED banque</a:t>
            </a:r>
            <a:endParaRPr lang="en-US" sz="1000" dirty="0"/>
          </a:p>
        </p:txBody>
      </p:sp>
      <p:sp>
        <p:nvSpPr>
          <p:cNvPr id="37" name="Text 35"/>
          <p:cNvSpPr/>
          <p:nvPr/>
        </p:nvSpPr>
        <p:spPr>
          <a:xfrm>
            <a:off x="640080" y="5641848"/>
            <a:ext cx="54864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Universign PSCo externe -&gt; remplacé par PSCo interne (à auditer DGSSI)</a:t>
            </a:r>
            <a:endParaRPr lang="en-US" sz="1000" dirty="0"/>
          </a:p>
        </p:txBody>
      </p:sp>
      <p:sp>
        <p:nvSpPr>
          <p:cNvPr id="38" name="Text 36"/>
          <p:cNvSpPr/>
          <p:nvPr/>
        </p:nvSpPr>
        <p:spPr>
          <a:xfrm>
            <a:off x="6217920" y="5641848"/>
            <a:ext cx="54864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Okta SSO + WebAuthn FIDO2 -&gt; AD banque + MFA OTP</a:t>
            </a:r>
            <a:endParaRPr lang="en-US" sz="1000" dirty="0"/>
          </a:p>
        </p:txBody>
      </p:sp>
      <p:sp>
        <p:nvSpPr>
          <p:cNvPr id="39" name="Text 37"/>
          <p:cNvSpPr/>
          <p:nvPr/>
        </p:nvSpPr>
        <p:spPr>
          <a:xfrm>
            <a:off x="640080" y="5934456"/>
            <a:ext cx="54864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Kafka 3.7 + Kafka Connect -&gt; Redis BullMQ + PG LISTEN/NOTIFY</a:t>
            </a:r>
            <a:endParaRPr lang="en-US" sz="1000" dirty="0"/>
          </a:p>
        </p:txBody>
      </p:sp>
      <p:sp>
        <p:nvSpPr>
          <p:cNvPr id="40" name="Text 38"/>
          <p:cNvSpPr/>
          <p:nvPr/>
        </p:nvSpPr>
        <p:spPr>
          <a:xfrm>
            <a:off x="6217920" y="5934456"/>
            <a:ext cx="548640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 AWS Paris + DR Frankfurt -&gt; cloud banque ou DC Maroc Tier III+</a:t>
            </a:r>
            <a:endParaRPr lang="en-US" sz="1000" dirty="0"/>
          </a:p>
        </p:txBody>
      </p:sp>
      <p:sp>
        <p:nvSpPr>
          <p:cNvPr id="41" name="Shape 39"/>
          <p:cNvSpPr/>
          <p:nvPr/>
        </p:nvSpPr>
        <p:spPr>
          <a:xfrm>
            <a:off x="457200" y="6537960"/>
            <a:ext cx="11247120" cy="0"/>
          </a:xfrm>
          <a:prstGeom prst="line">
            <a:avLst/>
          </a:prstGeom>
          <a:noFill/>
          <a:ln w="9525">
            <a:solidFill>
              <a:srgbClr val="E2E8F0"/>
            </a:solidFill>
            <a:prstDash val="solid"/>
          </a:ln>
        </p:spPr>
      </p:sp>
      <p:sp>
        <p:nvSpPr>
          <p:cNvPr id="42" name="Text 40"/>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43" name="Text 41"/>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Stack technique simplifiée</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Choix optimisés pour mode solo + Claude</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1645920"/>
                <a:gridCol w="3200400"/>
                <a:gridCol w="4572000"/>
                <a:gridCol w="182880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Couche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Choix initial (équipe)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A556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Choix révisé (solo + Claude)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Gain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A169"/>
                    </a:solidFill>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Frontend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React 18 + 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React 18 + TS + Vite + TailwindCSS + shadcn/ui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A5568"/>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Backend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Java 21 + Spring Boot 3</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Node.js 20 + Fastify + TypeScript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-30 %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Workflow</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Camunda BPM + DMN engine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State machine custom (XState + table d'états)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-10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Bus messages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Kafka 3.7 cluster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Redis BullMQ + PG LISTEN/NOTIFY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-15 JH ops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Auth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Okta SSO + WebAuthn FIDO2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AD banque + MFA OTP existant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0 € licence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DB</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PostgreSQL 16 + Elasticsearch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PostgreSQL 16 (full-text intégré)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-1 service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Observabilité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Prom + Graf + Loki + Tempo + Sentry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Prom + Graf + Loki + Sentry self-host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38A169"/>
                          </a:solidFill>
                          <a:latin typeface="Calibri" pitchFamily="34" charset="0"/>
                          <a:ea typeface="Calibri" pitchFamily="34" charset="-122"/>
                          <a:cs typeface="Calibri" pitchFamily="34" charset="-120"/>
                        </a:rPr>
                        <a:t>Trace = nice-to-have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IaC / CI/CD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Terraform + Helm + ArgoCD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Terraform + Docker Compose dev + Helm prod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4A5568"/>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Text 4"/>
          <p:cNvSpPr/>
          <p:nvPr/>
        </p:nvSpPr>
        <p:spPr>
          <a:xfrm>
            <a:off x="457200" y="5852160"/>
            <a:ext cx="11247120" cy="365760"/>
          </a:xfrm>
          <a:prstGeom prst="rect">
            <a:avLst/>
          </a:prstGeom>
          <a:noFill/>
          <a:ln/>
        </p:spPr>
        <p:txBody>
          <a:bodyPr wrap="square" rtlCol="0" anchor="ctr"/>
          <a:lstStyle/>
          <a:p>
            <a:pPr algn="ctr" indent="0" marL="0">
              <a:buNone/>
            </a:pPr>
            <a:r>
              <a:rPr lang="en-US" sz="1200" b="1" i="1" dirty="0">
                <a:solidFill>
                  <a:srgbClr val="1A365D"/>
                </a:solidFill>
                <a:latin typeface="Calibri" pitchFamily="34" charset="0"/>
                <a:ea typeface="Calibri" pitchFamily="34" charset="-122"/>
                <a:cs typeface="Calibri" pitchFamily="34" charset="-120"/>
              </a:rPr>
              <a:t>Effort total Build : 290 -&gt; 315 JH solo + Claude (incluant P0 kickoff). Aucune licence payante.</a:t>
            </a:r>
            <a:endParaRPr lang="en-US" sz="1200" dirty="0"/>
          </a:p>
        </p:txBody>
      </p:sp>
      <p:sp>
        <p:nvSpPr>
          <p:cNvPr id="8" name="Shape 5"/>
          <p:cNvSpPr/>
          <p:nvPr/>
        </p:nvSpPr>
        <p:spPr>
          <a:xfrm>
            <a:off x="457200" y="6537960"/>
            <a:ext cx="11247120" cy="0"/>
          </a:xfrm>
          <a:prstGeom prst="line">
            <a:avLst/>
          </a:prstGeom>
          <a:noFill/>
          <a:ln w="9525">
            <a:solidFill>
              <a:srgbClr val="E2E8F0"/>
            </a:solidFill>
            <a:prstDash val="solid"/>
          </a:ln>
        </p:spPr>
      </p:sp>
      <p:sp>
        <p:nvSpPr>
          <p:cNvPr id="9" name="Text 6"/>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10" name="Text 7"/>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API plateforme e-signature interne</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Spécifications à confirmer avec DSI banque - audit P0 critique</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Text 4"/>
          <p:cNvSpPr/>
          <p:nvPr/>
        </p:nvSpPr>
        <p:spPr>
          <a:xfrm>
            <a:off x="457200" y="914400"/>
            <a:ext cx="112471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Endpoint POST /api/v1/sign-requests</a:t>
            </a:r>
            <a:endParaRPr lang="en-US" sz="1300" dirty="0"/>
          </a:p>
        </p:txBody>
      </p:sp>
      <p:sp>
        <p:nvSpPr>
          <p:cNvPr id="7" name="Shape 5"/>
          <p:cNvSpPr/>
          <p:nvPr/>
        </p:nvSpPr>
        <p:spPr>
          <a:xfrm>
            <a:off x="457200" y="1280160"/>
            <a:ext cx="5486400" cy="4114800"/>
          </a:xfrm>
          <a:prstGeom prst="rect">
            <a:avLst/>
          </a:prstGeom>
          <a:solidFill>
            <a:srgbClr val="1A202C"/>
          </a:solidFill>
          <a:ln w="12700">
            <a:solidFill>
              <a:srgbClr val="1A202C"/>
            </a:solidFill>
            <a:prstDash val="solid"/>
          </a:ln>
        </p:spPr>
      </p:sp>
      <p:sp>
        <p:nvSpPr>
          <p:cNvPr id="8" name="Text 6"/>
          <p:cNvSpPr/>
          <p:nvPr/>
        </p:nvSpPr>
        <p:spPr>
          <a:xfrm>
            <a:off x="640080" y="1417320"/>
            <a:ext cx="5212080" cy="3840480"/>
          </a:xfrm>
          <a:prstGeom prst="rect">
            <a:avLst/>
          </a:prstGeom>
          <a:noFill/>
          <a:ln/>
        </p:spPr>
        <p:txBody>
          <a:bodyPr wrap="square" rtlCol="0" anchor="t"/>
          <a:lstStyle/>
          <a:p>
            <a:pPr indent="0" marL="0">
              <a:buNone/>
            </a:pPr>
            <a:r>
              <a:rPr lang="en-US" sz="1000" b="1" dirty="0">
                <a:solidFill>
                  <a:srgbClr val="F6E05E"/>
                </a:solidFill>
                <a:latin typeface="Consolas" pitchFamily="34" charset="0"/>
                <a:ea typeface="Consolas" pitchFamily="34" charset="-122"/>
                <a:cs typeface="Consolas" pitchFamily="34" charset="-120"/>
              </a:rPr>
              <a:t>POST /api/v1/sign-requests
</a:t>
            </a:r>
            <a:pPr indent="0" marL="0">
              <a:buNone/>
            </a:pPr>
            <a:r>
              <a:rPr lang="en-US" sz="1000" dirty="0">
                <a:solidFill>
                  <a:srgbClr val="9AE6B4"/>
                </a:solidFill>
                <a:latin typeface="Consolas" pitchFamily="34" charset="0"/>
                <a:ea typeface="Consolas" pitchFamily="34" charset="-122"/>
                <a:cs typeface="Consolas" pitchFamily="34" charset="-120"/>
              </a:rPr>
              <a:t>Authorization: Bearer {token}
</a:t>
            </a:r>
            <a:pPr indent="0" marL="0">
              <a:buNone/>
            </a:pPr>
            <a:r>
              <a:rPr lang="en-US" sz="1000" dirty="0">
                <a:solidFill>
                  <a:srgbClr val="9AE6B4"/>
                </a:solidFill>
                <a:latin typeface="Consolas" pitchFamily="34" charset="0"/>
                <a:ea typeface="Consolas" pitchFamily="34" charset="-122"/>
                <a:cs typeface="Consolas" pitchFamily="34" charset="-120"/>
              </a:rPr>
              <a:t>Content-Type: application/json
</a:t>
            </a:r>
            <a:pPr indent="0" marL="0">
              <a:buNone/>
            </a:pPr>
            <a:r>
              <a:rPr lang="en-US" sz="1000" dirty="0">
                <a:solidFill>
                  <a:srgbClr val="FFFFFF"/>
                </a:solidFill>
                <a:latin typeface="Consolas" pitchFamily="34" charset="0"/>
                <a:ea typeface="Consolas" pitchFamily="34" charset="-122"/>
                <a:cs typeface="Consolas" pitchFamily="34" charset="-120"/>
              </a:rPr>
              <a:t>{
</a:t>
            </a:r>
            <a:pPr indent="0" marL="0">
              <a:buNone/>
            </a:pPr>
            <a:r>
              <a:rPr lang="en-US" sz="1000" dirty="0">
                <a:solidFill>
                  <a:srgbClr val="FFFFFF"/>
                </a:solidFill>
                <a:latin typeface="Consolas" pitchFamily="34" charset="0"/>
                <a:ea typeface="Consolas" pitchFamily="34" charset="-122"/>
                <a:cs typeface="Consolas" pitchFamily="34" charset="-120"/>
              </a:rPr>
              <a:t>  "documentId": "uuid",
</a:t>
            </a:r>
            <a:pPr indent="0" marL="0">
              <a:buNone/>
            </a:pPr>
            <a:r>
              <a:rPr lang="en-US" sz="1000" dirty="0">
                <a:solidFill>
                  <a:srgbClr val="FFFFFF"/>
                </a:solidFill>
                <a:latin typeface="Consolas" pitchFamily="34" charset="0"/>
                <a:ea typeface="Consolas" pitchFamily="34" charset="-122"/>
                <a:cs typeface="Consolas" pitchFamily="34" charset="-120"/>
              </a:rPr>
              <a:t>  "documentBase64": "...",
</a:t>
            </a:r>
            <a:pPr indent="0" marL="0">
              <a:buNone/>
            </a:pPr>
            <a:r>
              <a:rPr lang="en-US" sz="1000" dirty="0">
                <a:solidFill>
                  <a:srgbClr val="FFFFFF"/>
                </a:solidFill>
                <a:latin typeface="Consolas" pitchFamily="34" charset="0"/>
                <a:ea typeface="Consolas" pitchFamily="34" charset="-122"/>
                <a:cs typeface="Consolas" pitchFamily="34" charset="-120"/>
              </a:rPr>
              <a:t>  "documentName": "facture.pdf",
</a:t>
            </a:r>
            <a:pPr indent="0" marL="0">
              <a:buNone/>
            </a:pPr>
            <a:r>
              <a:rPr lang="en-US" sz="1000" dirty="0">
                <a:solidFill>
                  <a:srgbClr val="FFFFFF"/>
                </a:solidFill>
                <a:latin typeface="Consolas" pitchFamily="34" charset="0"/>
                <a:ea typeface="Consolas" pitchFamily="34" charset="-122"/>
                <a:cs typeface="Consolas" pitchFamily="34" charset="-120"/>
              </a:rPr>
              <a:t>  "signatureLevel": </a:t>
            </a:r>
            <a:pPr indent="0" marL="0">
              <a:buNone/>
            </a:pPr>
            <a:r>
              <a:rPr lang="en-US" sz="1000" dirty="0">
                <a:solidFill>
                  <a:srgbClr val="F6E05E"/>
                </a:solidFill>
                <a:latin typeface="Consolas" pitchFamily="34" charset="0"/>
                <a:ea typeface="Consolas" pitchFamily="34" charset="-122"/>
                <a:cs typeface="Consolas" pitchFamily="34" charset="-120"/>
              </a:rPr>
              <a:t>"SES" | "SEA" | "SEQ"</a:t>
            </a:r>
            <a:pPr indent="0" marL="0">
              <a:buNone/>
            </a:pPr>
            <a:r>
              <a:rPr lang="en-US" sz="1000" dirty="0">
                <a:solidFill>
                  <a:srgbClr val="FFFFFF"/>
                </a:solidFill>
                <a:latin typeface="Consolas" pitchFamily="34" charset="0"/>
                <a:ea typeface="Consolas" pitchFamily="34" charset="-122"/>
                <a:cs typeface="Consolas" pitchFamily="34" charset="-120"/>
              </a:rPr>
              <a:t>,
</a:t>
            </a:r>
            <a:pPr indent="0" marL="0">
              <a:buNone/>
            </a:pPr>
            <a:r>
              <a:rPr lang="en-US" sz="1000" dirty="0">
                <a:solidFill>
                  <a:srgbClr val="FFFFFF"/>
                </a:solidFill>
                <a:latin typeface="Consolas" pitchFamily="34" charset="0"/>
                <a:ea typeface="Consolas" pitchFamily="34" charset="-122"/>
                <a:cs typeface="Consolas" pitchFamily="34" charset="-120"/>
              </a:rPr>
              <a:t>  "signers": [
</a:t>
            </a:r>
            <a:pPr indent="0" marL="0">
              <a:buNone/>
            </a:pPr>
            <a:r>
              <a:rPr lang="en-US" sz="1000" dirty="0">
                <a:solidFill>
                  <a:srgbClr val="FFFFFF"/>
                </a:solidFill>
                <a:latin typeface="Consolas" pitchFamily="34" charset="0"/>
                <a:ea typeface="Consolas" pitchFamily="34" charset="-122"/>
                <a:cs typeface="Consolas" pitchFamily="34" charset="-120"/>
              </a:rPr>
              <a:t>    { "userId": "...", "order": 1 }
</a:t>
            </a:r>
            <a:pPr indent="0" marL="0">
              <a:buNone/>
            </a:pPr>
            <a:r>
              <a:rPr lang="en-US" sz="1000" dirty="0">
                <a:solidFill>
                  <a:srgbClr val="FFFFFF"/>
                </a:solidFill>
                <a:latin typeface="Consolas" pitchFamily="34" charset="0"/>
                <a:ea typeface="Consolas" pitchFamily="34" charset="-122"/>
                <a:cs typeface="Consolas" pitchFamily="34" charset="-120"/>
              </a:rPr>
              <a:t>  ],
</a:t>
            </a:r>
            <a:pPr indent="0" marL="0">
              <a:buNone/>
            </a:pPr>
            <a:r>
              <a:rPr lang="en-US" sz="1000" dirty="0">
                <a:solidFill>
                  <a:srgbClr val="FFFFFF"/>
                </a:solidFill>
                <a:latin typeface="Consolas" pitchFamily="34" charset="0"/>
                <a:ea typeface="Consolas" pitchFamily="34" charset="-122"/>
                <a:cs typeface="Consolas" pitchFamily="34" charset="-120"/>
              </a:rPr>
              <a:t>  "callbackUrl": "...",
</a:t>
            </a:r>
            <a:pPr indent="0" marL="0">
              <a:buNone/>
            </a:pPr>
            <a:r>
              <a:rPr lang="en-US" sz="1000" dirty="0">
                <a:solidFill>
                  <a:srgbClr val="FFFFFF"/>
                </a:solidFill>
                <a:latin typeface="Consolas" pitchFamily="34" charset="0"/>
                <a:ea typeface="Consolas" pitchFamily="34" charset="-122"/>
                <a:cs typeface="Consolas" pitchFamily="34" charset="-120"/>
              </a:rPr>
              <a:t>  "metadata": { ... }
</a:t>
            </a:r>
            <a:pPr indent="0" marL="0">
              <a:buNone/>
            </a:pPr>
            <a:r>
              <a:rPr lang="en-US" sz="1000" dirty="0">
                <a:solidFill>
                  <a:srgbClr val="FFFFFF"/>
                </a:solidFill>
                <a:latin typeface="Consolas" pitchFamily="34" charset="0"/>
                <a:ea typeface="Consolas" pitchFamily="34" charset="-122"/>
                <a:cs typeface="Consolas" pitchFamily="34" charset="-120"/>
              </a:rPr>
              <a:t>}
</a:t>
            </a:r>
            <a:pPr indent="0" marL="0">
              <a:buNone/>
            </a:pPr>
            <a:r>
              <a:rPr lang="en-US" sz="1000" b="1" dirty="0">
                <a:solidFill>
                  <a:srgbClr val="9AE6B4"/>
                </a:solidFill>
                <a:latin typeface="Consolas" pitchFamily="34" charset="0"/>
                <a:ea typeface="Consolas" pitchFamily="34" charset="-122"/>
                <a:cs typeface="Consolas" pitchFamily="34" charset="-120"/>
              </a:rPr>
              <a:t>-&gt; 202 Accepted
</a:t>
            </a:r>
            <a:pPr indent="0" marL="0">
              <a:buNone/>
            </a:pPr>
            <a:r>
              <a:rPr lang="en-US" sz="1000" dirty="0">
                <a:solidFill>
                  <a:srgbClr val="FFFFFF"/>
                </a:solidFill>
                <a:latin typeface="Consolas" pitchFamily="34" charset="0"/>
                <a:ea typeface="Consolas" pitchFamily="34" charset="-122"/>
                <a:cs typeface="Consolas" pitchFamily="34" charset="-120"/>
              </a:rPr>
              <a:t>{ "signRequestId": "...",
</a:t>
            </a:r>
            <a:pPr indent="0" marL="0">
              <a:buNone/>
            </a:pPr>
            <a:r>
              <a:rPr lang="en-US" sz="1000" dirty="0">
                <a:solidFill>
                  <a:srgbClr val="FFFFFF"/>
                </a:solidFill>
                <a:latin typeface="Consolas" pitchFamily="34" charset="0"/>
                <a:ea typeface="Consolas" pitchFamily="34" charset="-122"/>
                <a:cs typeface="Consolas" pitchFamily="34" charset="-120"/>
              </a:rPr>
              <a:t>  "status": "PENDING" }
</a:t>
            </a:r>
            <a:endParaRPr lang="en-US" sz="1000" dirty="0"/>
          </a:p>
        </p:txBody>
      </p:sp>
      <p:sp>
        <p:nvSpPr>
          <p:cNvPr id="9" name="Text 7"/>
          <p:cNvSpPr/>
          <p:nvPr/>
        </p:nvSpPr>
        <p:spPr>
          <a:xfrm>
            <a:off x="6217920" y="914400"/>
            <a:ext cx="548640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Questionnaire DSI banque (à obtenir P0 - 5 JH)</a:t>
            </a:r>
            <a:endParaRPr lang="en-US" sz="1300" dirty="0"/>
          </a:p>
        </p:txBody>
      </p:sp>
      <p:sp>
        <p:nvSpPr>
          <p:cNvPr id="10" name="Text 8"/>
          <p:cNvSpPr/>
          <p:nvPr/>
        </p:nvSpPr>
        <p:spPr>
          <a:xfrm>
            <a:off x="6217920" y="1280160"/>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URL endpoint API + environnement sandbox</a:t>
            </a:r>
            <a:endParaRPr lang="en-US" sz="1100" dirty="0"/>
          </a:p>
        </p:txBody>
      </p:sp>
      <p:sp>
        <p:nvSpPr>
          <p:cNvPr id="11" name="Text 9"/>
          <p:cNvSpPr/>
          <p:nvPr/>
        </p:nvSpPr>
        <p:spPr>
          <a:xfrm>
            <a:off x="6217920" y="1609344"/>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Authentification : OAuth2 / mTLS / API key ?</a:t>
            </a:r>
            <a:endParaRPr lang="en-US" sz="1100" dirty="0"/>
          </a:p>
        </p:txBody>
      </p:sp>
      <p:sp>
        <p:nvSpPr>
          <p:cNvPr id="12" name="Text 10"/>
          <p:cNvSpPr/>
          <p:nvPr/>
        </p:nvSpPr>
        <p:spPr>
          <a:xfrm>
            <a:off x="6217920" y="1938528"/>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Niveaux supportés : SES / SEA / SEQ ?</a:t>
            </a:r>
            <a:endParaRPr lang="en-US" sz="1100" dirty="0"/>
          </a:p>
        </p:txBody>
      </p:sp>
      <p:sp>
        <p:nvSpPr>
          <p:cNvPr id="13" name="Text 11"/>
          <p:cNvSpPr/>
          <p:nvPr/>
        </p:nvSpPr>
        <p:spPr>
          <a:xfrm>
            <a:off x="6217920" y="2267712"/>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Agrément DGSSI - ID registre PSCo</a:t>
            </a:r>
            <a:endParaRPr lang="en-US" sz="1100" dirty="0"/>
          </a:p>
        </p:txBody>
      </p:sp>
      <p:sp>
        <p:nvSpPr>
          <p:cNvPr id="14" name="Text 12"/>
          <p:cNvSpPr/>
          <p:nvPr/>
        </p:nvSpPr>
        <p:spPr>
          <a:xfrm>
            <a:off x="6217920" y="2596896"/>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Format signature : PAdES / XAdES / CAdES + LTA ?</a:t>
            </a:r>
            <a:endParaRPr lang="en-US" sz="1100" dirty="0"/>
          </a:p>
        </p:txBody>
      </p:sp>
      <p:sp>
        <p:nvSpPr>
          <p:cNvPr id="15" name="Text 13"/>
          <p:cNvSpPr/>
          <p:nvPr/>
        </p:nvSpPr>
        <p:spPr>
          <a:xfrm>
            <a:off x="6217920" y="2926080"/>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Horodatage RFC 3161 intégré ?</a:t>
            </a:r>
            <a:endParaRPr lang="en-US" sz="1100" dirty="0"/>
          </a:p>
        </p:txBody>
      </p:sp>
      <p:sp>
        <p:nvSpPr>
          <p:cNvPr id="16" name="Text 14"/>
          <p:cNvSpPr/>
          <p:nvPr/>
        </p:nvSpPr>
        <p:spPr>
          <a:xfrm>
            <a:off x="6217920" y="3255264"/>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Modèle sync ou async (webhook callback) ?</a:t>
            </a:r>
            <a:endParaRPr lang="en-US" sz="1100" dirty="0"/>
          </a:p>
        </p:txBody>
      </p:sp>
      <p:sp>
        <p:nvSpPr>
          <p:cNvPr id="17" name="Text 15"/>
          <p:cNvSpPr/>
          <p:nvPr/>
        </p:nvSpPr>
        <p:spPr>
          <a:xfrm>
            <a:off x="6217920" y="3584448"/>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Rate-limit + SLA disponibilité</a:t>
            </a:r>
            <a:endParaRPr lang="en-US" sz="1100" dirty="0"/>
          </a:p>
        </p:txBody>
      </p:sp>
      <p:sp>
        <p:nvSpPr>
          <p:cNvPr id="18" name="Text 16"/>
          <p:cNvSpPr/>
          <p:nvPr/>
        </p:nvSpPr>
        <p:spPr>
          <a:xfrm>
            <a:off x="6217920" y="3913632"/>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API d'export journal des signatures ?</a:t>
            </a:r>
            <a:endParaRPr lang="en-US" sz="1100" dirty="0"/>
          </a:p>
        </p:txBody>
      </p:sp>
      <p:sp>
        <p:nvSpPr>
          <p:cNvPr id="19" name="Text 17"/>
          <p:cNvSpPr/>
          <p:nvPr/>
        </p:nvSpPr>
        <p:spPr>
          <a:xfrm>
            <a:off x="6217920" y="4242816"/>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API verify a posteriori sur document signé ?</a:t>
            </a:r>
            <a:endParaRPr lang="en-US" sz="1100" dirty="0"/>
          </a:p>
        </p:txBody>
      </p:sp>
      <p:sp>
        <p:nvSpPr>
          <p:cNvPr id="20" name="Text 18"/>
          <p:cNvSpPr/>
          <p:nvPr/>
        </p:nvSpPr>
        <p:spPr>
          <a:xfrm>
            <a:off x="6217920" y="4572000"/>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Coût refacturation interne (MAD/signature)</a:t>
            </a:r>
            <a:endParaRPr lang="en-US" sz="1100" dirty="0"/>
          </a:p>
        </p:txBody>
      </p:sp>
      <p:sp>
        <p:nvSpPr>
          <p:cNvPr id="21" name="Text 19"/>
          <p:cNvSpPr/>
          <p:nvPr/>
        </p:nvSpPr>
        <p:spPr>
          <a:xfrm>
            <a:off x="6217920" y="4901184"/>
            <a:ext cx="5486400" cy="292608"/>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 Documentation Swagger / OpenAPI</a:t>
            </a:r>
            <a:endParaRPr lang="en-US" sz="1100" dirty="0"/>
          </a:p>
        </p:txBody>
      </p:sp>
      <p:sp>
        <p:nvSpPr>
          <p:cNvPr id="22" name="Shape 20"/>
          <p:cNvSpPr/>
          <p:nvPr/>
        </p:nvSpPr>
        <p:spPr>
          <a:xfrm>
            <a:off x="457200" y="5532120"/>
            <a:ext cx="11247120" cy="777240"/>
          </a:xfrm>
          <a:prstGeom prst="rect">
            <a:avLst/>
          </a:prstGeom>
          <a:solidFill>
            <a:srgbClr val="FFF5F5"/>
          </a:solidFill>
          <a:ln w="12700">
            <a:solidFill>
              <a:srgbClr val="E53E3E"/>
            </a:solidFill>
            <a:prstDash val="solid"/>
          </a:ln>
        </p:spPr>
      </p:sp>
      <p:sp>
        <p:nvSpPr>
          <p:cNvPr id="23" name="Text 21"/>
          <p:cNvSpPr/>
          <p:nvPr/>
        </p:nvSpPr>
        <p:spPr>
          <a:xfrm>
            <a:off x="640080" y="5577840"/>
            <a:ext cx="10972800" cy="228600"/>
          </a:xfrm>
          <a:prstGeom prst="rect">
            <a:avLst/>
          </a:prstGeom>
          <a:noFill/>
          <a:ln/>
        </p:spPr>
        <p:txBody>
          <a:bodyPr wrap="square" rtlCol="0" anchor="ctr"/>
          <a:lstStyle/>
          <a:p>
            <a:pPr indent="0" marL="0">
              <a:buNone/>
            </a:pPr>
            <a:r>
              <a:rPr lang="en-US" sz="1100" b="1" dirty="0">
                <a:solidFill>
                  <a:srgbClr val="E53E3E"/>
                </a:solidFill>
                <a:latin typeface="Calibri" pitchFamily="34" charset="0"/>
                <a:ea typeface="Calibri" pitchFamily="34" charset="-122"/>
                <a:cs typeface="Calibri" pitchFamily="34" charset="-120"/>
              </a:rPr>
              <a:t>Risque RS-09 (P×I = 12)</a:t>
            </a:r>
            <a:endParaRPr lang="en-US" sz="1100" dirty="0"/>
          </a:p>
        </p:txBody>
      </p:sp>
      <p:sp>
        <p:nvSpPr>
          <p:cNvPr id="24" name="Text 22"/>
          <p:cNvSpPr/>
          <p:nvPr/>
        </p:nvSpPr>
        <p:spPr>
          <a:xfrm>
            <a:off x="640080" y="5806440"/>
            <a:ext cx="10972800" cy="45720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Si plateforme e-sign banque non agréée DGSSI -&gt; SEQ impossible -&gt; plafond SEA -&gt; plan B PSCo externe Barid eSign / Maroc Telecom Trust pour engagements &gt; 5 M MAD.</a:t>
            </a:r>
            <a:endParaRPr lang="en-US" sz="1000" dirty="0"/>
          </a:p>
        </p:txBody>
      </p:sp>
      <p:sp>
        <p:nvSpPr>
          <p:cNvPr id="25" name="Shape 23"/>
          <p:cNvSpPr/>
          <p:nvPr/>
        </p:nvSpPr>
        <p:spPr>
          <a:xfrm>
            <a:off x="457200" y="6537960"/>
            <a:ext cx="11247120" cy="0"/>
          </a:xfrm>
          <a:prstGeom prst="line">
            <a:avLst/>
          </a:prstGeom>
          <a:noFill/>
          <a:ln w="9525">
            <a:solidFill>
              <a:srgbClr val="E2E8F0"/>
            </a:solidFill>
            <a:prstDash val="solid"/>
          </a:ln>
        </p:spPr>
      </p:sp>
      <p:sp>
        <p:nvSpPr>
          <p:cNvPr id="26" name="Text 24"/>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27" name="Text 25"/>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API GED interne + autres intégrations</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Façade unique - 30 JH d'effort intégration</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Shape 4"/>
          <p:cNvSpPr/>
          <p:nvPr/>
        </p:nvSpPr>
        <p:spPr>
          <a:xfrm>
            <a:off x="457200" y="960120"/>
            <a:ext cx="5486400" cy="2194560"/>
          </a:xfrm>
          <a:prstGeom prst="rect">
            <a:avLst/>
          </a:prstGeom>
          <a:solidFill>
            <a:srgbClr val="F7FAFC"/>
          </a:solidFill>
          <a:ln w="12700">
            <a:solidFill>
              <a:srgbClr val="E2E8F0"/>
            </a:solidFill>
            <a:prstDash val="solid"/>
          </a:ln>
        </p:spPr>
      </p:sp>
      <p:sp>
        <p:nvSpPr>
          <p:cNvPr id="7" name="Text 5"/>
          <p:cNvSpPr/>
          <p:nvPr/>
        </p:nvSpPr>
        <p:spPr>
          <a:xfrm>
            <a:off x="640080" y="1005840"/>
            <a:ext cx="512064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Plateforme GED interne</a:t>
            </a:r>
            <a:endParaRPr lang="en-US" sz="1300" dirty="0"/>
          </a:p>
        </p:txBody>
      </p:sp>
      <p:sp>
        <p:nvSpPr>
          <p:cNvPr id="8" name="Text 6"/>
          <p:cNvSpPr/>
          <p:nvPr/>
        </p:nvSpPr>
        <p:spPr>
          <a:xfrm>
            <a:off x="640080" y="1325880"/>
            <a:ext cx="5120640" cy="1280160"/>
          </a:xfrm>
          <a:prstGeom prst="rect">
            <a:avLst/>
          </a:prstGeom>
          <a:noFill/>
          <a:ln/>
        </p:spPr>
        <p:txBody>
          <a:bodyPr wrap="square" rtlCol="0" anchor="t"/>
          <a:lstStyle/>
          <a:p>
            <a:pPr indent="0" marL="0">
              <a:buNone/>
            </a:pPr>
            <a:r>
              <a:rPr lang="en-US" sz="1000" b="1" dirty="0">
                <a:solidFill>
                  <a:srgbClr val="1A365D"/>
                </a:solidFill>
                <a:latin typeface="Consolas" pitchFamily="34" charset="0"/>
                <a:ea typeface="Consolas" pitchFamily="34" charset="-122"/>
                <a:cs typeface="Consolas" pitchFamily="34" charset="-120"/>
              </a:rPr>
              <a:t>POST /api/v1/documents
</a:t>
            </a:r>
            <a:pPr indent="0" marL="0">
              <a:buNone/>
            </a:pPr>
            <a:r>
              <a:rPr lang="en-US" sz="1000" dirty="0">
                <a:solidFill>
                  <a:srgbClr val="4A5568"/>
                </a:solidFill>
                <a:latin typeface="Consolas" pitchFamily="34" charset="0"/>
                <a:ea typeface="Consolas" pitchFamily="34" charset="-122"/>
                <a:cs typeface="Consolas" pitchFamily="34" charset="-120"/>
              </a:rPr>
              <a:t>  name, category, retentionPolicy
</a:t>
            </a:r>
            <a:pPr indent="0" marL="0">
              <a:buNone/>
            </a:pPr>
            <a:r>
              <a:rPr lang="en-US" sz="1000" dirty="0">
                <a:solidFill>
                  <a:srgbClr val="4A5568"/>
                </a:solidFill>
                <a:latin typeface="Consolas" pitchFamily="34" charset="0"/>
                <a:ea typeface="Consolas" pitchFamily="34" charset="-122"/>
                <a:cs typeface="Consolas" pitchFamily="34" charset="-120"/>
              </a:rPr>
              <a:t>  metadata { dossierId, type, amount }
</a:t>
            </a:r>
            <a:pPr indent="0" marL="0">
              <a:buNone/>
            </a:pPr>
            <a:r>
              <a:rPr lang="en-US" sz="1000" dirty="0">
                <a:solidFill>
                  <a:srgbClr val="4A5568"/>
                </a:solidFill>
                <a:latin typeface="Consolas" pitchFamily="34" charset="0"/>
                <a:ea typeface="Consolas" pitchFamily="34" charset="-122"/>
                <a:cs typeface="Consolas" pitchFamily="34" charset="-120"/>
              </a:rPr>
              <a:t>  fileBase64
</a:t>
            </a:r>
            <a:pPr indent="0" marL="0">
              <a:buNone/>
            </a:pPr>
            <a:r>
              <a:rPr lang="en-US" sz="1000" b="1" dirty="0">
                <a:solidFill>
                  <a:srgbClr val="1A365D"/>
                </a:solidFill>
                <a:latin typeface="Consolas" pitchFamily="34" charset="0"/>
                <a:ea typeface="Consolas" pitchFamily="34" charset="-122"/>
                <a:cs typeface="Consolas" pitchFamily="34" charset="-120"/>
              </a:rPr>
              <a:t>GET /api/v1/documents/{id}
</a:t>
            </a:r>
            <a:pPr indent="0" marL="0">
              <a:buNone/>
            </a:pPr>
            <a:r>
              <a:rPr lang="en-US" sz="1000" b="1" dirty="0">
                <a:solidFill>
                  <a:srgbClr val="1A365D"/>
                </a:solidFill>
                <a:latin typeface="Consolas" pitchFamily="34" charset="0"/>
                <a:ea typeface="Consolas" pitchFamily="34" charset="-122"/>
                <a:cs typeface="Consolas" pitchFamily="34" charset="-120"/>
              </a:rPr>
              <a:t>GET /api/v1/documents?dossierId=...
</a:t>
            </a:r>
            <a:pPr indent="0" marL="0">
              <a:buNone/>
            </a:pPr>
            <a:r>
              <a:rPr lang="en-US" sz="1000" b="1" dirty="0">
                <a:solidFill>
                  <a:srgbClr val="1A365D"/>
                </a:solidFill>
                <a:latin typeface="Consolas" pitchFamily="34" charset="0"/>
                <a:ea typeface="Consolas" pitchFamily="34" charset="-122"/>
                <a:cs typeface="Consolas" pitchFamily="34" charset="-120"/>
              </a:rPr>
              <a:t>POST /documents/{id}/legal-hold
</a:t>
            </a:r>
            <a:endParaRPr lang="en-US" sz="1000" dirty="0"/>
          </a:p>
        </p:txBody>
      </p:sp>
      <p:sp>
        <p:nvSpPr>
          <p:cNvPr id="9" name="Text 7"/>
          <p:cNvSpPr/>
          <p:nvPr/>
        </p:nvSpPr>
        <p:spPr>
          <a:xfrm>
            <a:off x="640080" y="2697480"/>
            <a:ext cx="5120640" cy="365760"/>
          </a:xfrm>
          <a:prstGeom prst="rect">
            <a:avLst/>
          </a:prstGeom>
          <a:noFill/>
          <a:ln/>
        </p:spPr>
        <p:txBody>
          <a:bodyPr wrap="square" rtlCol="0" anchor="ctr"/>
          <a:lstStyle/>
          <a:p>
            <a:pPr indent="0" marL="0">
              <a:buNone/>
            </a:pPr>
            <a:r>
              <a:rPr lang="en-US" sz="1000" i="1" dirty="0">
                <a:solidFill>
                  <a:srgbClr val="DD6B20"/>
                </a:solidFill>
                <a:latin typeface="Calibri" pitchFamily="34" charset="0"/>
                <a:ea typeface="Calibri" pitchFamily="34" charset="-122"/>
                <a:cs typeface="Calibri" pitchFamily="34" charset="-120"/>
              </a:rPr>
              <a:t>Conformité circulaire BAM 5/W/2017 (PCA, archivage 10 ans, audit accès)</a:t>
            </a:r>
            <a:endParaRPr lang="en-US" sz="1000" dirty="0"/>
          </a:p>
        </p:txBody>
      </p:sp>
      <p:sp>
        <p:nvSpPr>
          <p:cNvPr id="10" name="Shape 8"/>
          <p:cNvSpPr/>
          <p:nvPr/>
        </p:nvSpPr>
        <p:spPr>
          <a:xfrm>
            <a:off x="6217920" y="960120"/>
            <a:ext cx="5486400" cy="2194560"/>
          </a:xfrm>
          <a:prstGeom prst="rect">
            <a:avLst/>
          </a:prstGeom>
          <a:solidFill>
            <a:srgbClr val="F7FAFC"/>
          </a:solidFill>
          <a:ln w="12700">
            <a:solidFill>
              <a:srgbClr val="E2E8F0"/>
            </a:solidFill>
            <a:prstDash val="solid"/>
          </a:ln>
        </p:spPr>
      </p:sp>
      <p:sp>
        <p:nvSpPr>
          <p:cNvPr id="11" name="Text 9"/>
          <p:cNvSpPr/>
          <p:nvPr/>
        </p:nvSpPr>
        <p:spPr>
          <a:xfrm>
            <a:off x="6400800" y="1005840"/>
            <a:ext cx="512064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Autres intégrations bancaires</a:t>
            </a:r>
            <a:endParaRPr lang="en-US" sz="1300" dirty="0"/>
          </a:p>
        </p:txBody>
      </p:sp>
      <p:sp>
        <p:nvSpPr>
          <p:cNvPr id="12" name="Text 10"/>
          <p:cNvSpPr/>
          <p:nvPr/>
        </p:nvSpPr>
        <p:spPr>
          <a:xfrm>
            <a:off x="6400800" y="1325880"/>
            <a:ext cx="5120640" cy="274320"/>
          </a:xfrm>
          <a:prstGeom prst="rect">
            <a:avLst/>
          </a:prstGeom>
          <a:noFill/>
          <a:ln/>
        </p:spPr>
        <p:txBody>
          <a:bodyPr wrap="square" rtlCol="0" anchor="ctr"/>
          <a:lstStyle/>
          <a:p>
            <a:pPr indent="0" marL="0">
              <a:buNone/>
            </a:pPr>
            <a:r>
              <a:rPr lang="en-US" sz="1100" dirty="0">
                <a:solidFill>
                  <a:srgbClr val="1A365D"/>
                </a:solidFill>
                <a:latin typeface="Calibri" pitchFamily="34" charset="0"/>
                <a:ea typeface="Calibri" pitchFamily="34" charset="-122"/>
                <a:cs typeface="Calibri" pitchFamily="34" charset="-120"/>
              </a:rPr>
              <a:t>• AD / LDAP banque - utilisateurs + groupes</a:t>
            </a:r>
            <a:endParaRPr lang="en-US" sz="1100" dirty="0"/>
          </a:p>
        </p:txBody>
      </p:sp>
      <p:sp>
        <p:nvSpPr>
          <p:cNvPr id="13" name="Text 11"/>
          <p:cNvSpPr/>
          <p:nvPr/>
        </p:nvSpPr>
        <p:spPr>
          <a:xfrm>
            <a:off x="6400800" y="1618488"/>
            <a:ext cx="5120640" cy="274320"/>
          </a:xfrm>
          <a:prstGeom prst="rect">
            <a:avLst/>
          </a:prstGeom>
          <a:noFill/>
          <a:ln/>
        </p:spPr>
        <p:txBody>
          <a:bodyPr wrap="square" rtlCol="0" anchor="ctr"/>
          <a:lstStyle/>
          <a:p>
            <a:pPr indent="0" marL="0">
              <a:buNone/>
            </a:pPr>
            <a:r>
              <a:rPr lang="en-US" sz="1100" dirty="0">
                <a:solidFill>
                  <a:srgbClr val="1A365D"/>
                </a:solidFill>
                <a:latin typeface="Calibri" pitchFamily="34" charset="0"/>
                <a:ea typeface="Calibri" pitchFamily="34" charset="-122"/>
                <a:cs typeface="Calibri" pitchFamily="34" charset="-120"/>
              </a:rPr>
              <a:t>• Core banking - référentiel clients (REST)</a:t>
            </a:r>
            <a:endParaRPr lang="en-US" sz="1100" dirty="0"/>
          </a:p>
        </p:txBody>
      </p:sp>
      <p:sp>
        <p:nvSpPr>
          <p:cNvPr id="14" name="Text 12"/>
          <p:cNvSpPr/>
          <p:nvPr/>
        </p:nvSpPr>
        <p:spPr>
          <a:xfrm>
            <a:off x="6400800" y="1911096"/>
            <a:ext cx="5120640" cy="274320"/>
          </a:xfrm>
          <a:prstGeom prst="rect">
            <a:avLst/>
          </a:prstGeom>
          <a:noFill/>
          <a:ln/>
        </p:spPr>
        <p:txBody>
          <a:bodyPr wrap="square" rtlCol="0" anchor="ctr"/>
          <a:lstStyle/>
          <a:p>
            <a:pPr indent="0" marL="0">
              <a:buNone/>
            </a:pPr>
            <a:r>
              <a:rPr lang="en-US" sz="1100" dirty="0">
                <a:solidFill>
                  <a:srgbClr val="1A365D"/>
                </a:solidFill>
                <a:latin typeface="Calibri" pitchFamily="34" charset="0"/>
                <a:ea typeface="Calibri" pitchFamily="34" charset="-122"/>
                <a:cs typeface="Calibri" pitchFamily="34" charset="-120"/>
              </a:rPr>
              <a:t>• SMTP relay banque - notifications email</a:t>
            </a:r>
            <a:endParaRPr lang="en-US" sz="1100" dirty="0"/>
          </a:p>
        </p:txBody>
      </p:sp>
      <p:sp>
        <p:nvSpPr>
          <p:cNvPr id="15" name="Text 13"/>
          <p:cNvSpPr/>
          <p:nvPr/>
        </p:nvSpPr>
        <p:spPr>
          <a:xfrm>
            <a:off x="6400800" y="2203704"/>
            <a:ext cx="5120640" cy="274320"/>
          </a:xfrm>
          <a:prstGeom prst="rect">
            <a:avLst/>
          </a:prstGeom>
          <a:noFill/>
          <a:ln/>
        </p:spPr>
        <p:txBody>
          <a:bodyPr wrap="square" rtlCol="0" anchor="ctr"/>
          <a:lstStyle/>
          <a:p>
            <a:pPr indent="0" marL="0">
              <a:buNone/>
            </a:pPr>
            <a:r>
              <a:rPr lang="en-US" sz="1100" dirty="0">
                <a:solidFill>
                  <a:srgbClr val="1A365D"/>
                </a:solidFill>
                <a:latin typeface="Calibri" pitchFamily="34" charset="0"/>
                <a:ea typeface="Calibri" pitchFamily="34" charset="-122"/>
                <a:cs typeface="Calibri" pitchFamily="34" charset="-120"/>
              </a:rPr>
              <a:t>• SMS Gateway interne - notifications SMS</a:t>
            </a:r>
            <a:endParaRPr lang="en-US" sz="1100" dirty="0"/>
          </a:p>
        </p:txBody>
      </p:sp>
      <p:sp>
        <p:nvSpPr>
          <p:cNvPr id="16" name="Text 14"/>
          <p:cNvSpPr/>
          <p:nvPr/>
        </p:nvSpPr>
        <p:spPr>
          <a:xfrm>
            <a:off x="6400800" y="2496312"/>
            <a:ext cx="5120640" cy="274320"/>
          </a:xfrm>
          <a:prstGeom prst="rect">
            <a:avLst/>
          </a:prstGeom>
          <a:noFill/>
          <a:ln/>
        </p:spPr>
        <p:txBody>
          <a:bodyPr wrap="square" rtlCol="0" anchor="ctr"/>
          <a:lstStyle/>
          <a:p>
            <a:pPr indent="0" marL="0">
              <a:buNone/>
            </a:pPr>
            <a:r>
              <a:rPr lang="en-US" sz="1100" dirty="0">
                <a:solidFill>
                  <a:srgbClr val="1A365D"/>
                </a:solidFill>
                <a:latin typeface="Calibri" pitchFamily="34" charset="0"/>
                <a:ea typeface="Calibri" pitchFamily="34" charset="-122"/>
                <a:cs typeface="Calibri" pitchFamily="34" charset="-120"/>
              </a:rPr>
              <a:t>• Annuaire signataires + délégations</a:t>
            </a:r>
            <a:endParaRPr lang="en-US" sz="1100" dirty="0"/>
          </a:p>
        </p:txBody>
      </p:sp>
      <p:sp>
        <p:nvSpPr>
          <p:cNvPr id="17" name="Text 15"/>
          <p:cNvSpPr/>
          <p:nvPr/>
        </p:nvSpPr>
        <p:spPr>
          <a:xfrm>
            <a:off x="6400800" y="2788920"/>
            <a:ext cx="5120640" cy="274320"/>
          </a:xfrm>
          <a:prstGeom prst="rect">
            <a:avLst/>
          </a:prstGeom>
          <a:noFill/>
          <a:ln/>
        </p:spPr>
        <p:txBody>
          <a:bodyPr wrap="square" rtlCol="0" anchor="ctr"/>
          <a:lstStyle/>
          <a:p>
            <a:pPr indent="0" marL="0">
              <a:buNone/>
            </a:pPr>
            <a:r>
              <a:rPr lang="en-US" sz="1100" dirty="0">
                <a:solidFill>
                  <a:srgbClr val="1A365D"/>
                </a:solidFill>
                <a:latin typeface="Calibri" pitchFamily="34" charset="0"/>
                <a:ea typeface="Calibri" pitchFamily="34" charset="-122"/>
                <a:cs typeface="Calibri" pitchFamily="34" charset="-120"/>
              </a:rPr>
              <a:t>• Outil ticketing pour escalations (Jira / GLPI)</a:t>
            </a:r>
            <a:endParaRPr lang="en-US" sz="1100" dirty="0"/>
          </a:p>
        </p:txBody>
      </p:sp>
      <p:sp>
        <p:nvSpPr>
          <p:cNvPr id="18" name="Shape 16"/>
          <p:cNvSpPr/>
          <p:nvPr/>
        </p:nvSpPr>
        <p:spPr>
          <a:xfrm>
            <a:off x="457200" y="3337560"/>
            <a:ext cx="11247120" cy="457200"/>
          </a:xfrm>
          <a:prstGeom prst="rect">
            <a:avLst/>
          </a:prstGeom>
          <a:solidFill>
            <a:srgbClr val="1A365D"/>
          </a:solidFill>
          <a:ln w="12700">
            <a:solidFill>
              <a:srgbClr val="1A365D"/>
            </a:solidFill>
            <a:prstDash val="solid"/>
          </a:ln>
        </p:spPr>
      </p:sp>
      <p:sp>
        <p:nvSpPr>
          <p:cNvPr id="19" name="Text 17"/>
          <p:cNvSpPr/>
          <p:nvPr/>
        </p:nvSpPr>
        <p:spPr>
          <a:xfrm>
            <a:off x="457200" y="3337560"/>
            <a:ext cx="11247120" cy="4572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Volumétrie : 12 K dossiers/an = ~50 dossiers/jour ouvré -&gt; mode synchrone REST suffit (pas de stream Kafka)</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4023360"/>
          <a:ext cx="11247120" cy="914400"/>
        </p:xfrm>
        <a:graphic>
          <a:graphicData uri="http://schemas.openxmlformats.org/drawingml/2006/table">
            <a:tbl>
              <a:tblPr/>
              <a:tblGrid>
                <a:gridCol w="2743200"/>
                <a:gridCol w="6675120"/>
                <a:gridCol w="182880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Composants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Effort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329184">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MS-5 Adapter e-Sign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Façade API + callback handler + tests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18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MS-6 Adapter GED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Façade API + retry + cache métadonnées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12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AD / LDAP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Passport.js + sync groupes périodique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5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Core banking</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Client REST + cache Redis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4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Email / SMS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Templates + tracking + retry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5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29184">
                <a:tc>
                  <a:txBody>
                    <a:bodyPr/>
                    <a:lstStyle/>
                    <a:p>
                      <a:pPr indent="0" marL="0">
                        <a:buNone/>
                      </a:pPr>
                      <a:r>
                        <a:rPr lang="en-US" sz="1100" b="1" dirty="0">
                          <a:solidFill>
                            <a:srgbClr val="38A169"/>
                          </a:solidFill>
                          <a:latin typeface="Calibri" pitchFamily="34" charset="0"/>
                          <a:ea typeface="Calibri" pitchFamily="34" charset="-122"/>
                          <a:cs typeface="Calibri" pitchFamily="34" charset="-120"/>
                        </a:rPr>
                        <a:t>Total intégrations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FF4"/>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FF4"/>
                    </a:solidFill>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44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FF4"/>
                    </a:solidFill>
                  </a:tcPr>
                </a:tc>
              </a:tr>
            </a:tbl>
          </a:graphicData>
        </a:graphic>
      </p:graphicFrame>
      <p:sp>
        <p:nvSpPr>
          <p:cNvPr id="21" name="Shape 18"/>
          <p:cNvSpPr/>
          <p:nvPr/>
        </p:nvSpPr>
        <p:spPr>
          <a:xfrm>
            <a:off x="457200" y="6537960"/>
            <a:ext cx="11247120" cy="0"/>
          </a:xfrm>
          <a:prstGeom prst="line">
            <a:avLst/>
          </a:prstGeom>
          <a:noFill/>
          <a:ln w="9525">
            <a:solidFill>
              <a:srgbClr val="E2E8F0"/>
            </a:solidFill>
            <a:prstDash val="solid"/>
          </a:ln>
        </p:spPr>
      </p:sp>
      <p:sp>
        <p:nvSpPr>
          <p:cNvPr id="22" name="Text 19"/>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23" name="Text 20"/>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Effort total en JH - mode solo + Claude</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315 JH Build sur 54 semaines + 45 JH/an Run</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2286000"/>
                <a:gridCol w="7132320"/>
                <a:gridCol w="182880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P0 Kickoff</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Audit API banque, pré-consultation CNDP, lettre de mission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Setup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IaC, CI/CD, environnements dev/staging/prod, monitoring</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Backend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5 microservices + auth + audit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Frontend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Web React + PWA mobile + i18n FR/AR (RTL)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60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Intégrations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API e-sign, GED, AD, core banking, SMTP, SMS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Données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Schémas, migrations, seed, tests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Unit + intégration + E2E + perf + sécurité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Conformité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Dépôt CNDP, ADR, doc sécurité, audit interne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Recette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UAT avec utilisateurs banque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Documentation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OpenAPI, runbook, manuel, formations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Mise en prod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Go-live progressif + hypercare 4 sem</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 BUILD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Sur 54 semaines (12,5 mois full-time)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315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RUN /an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TMA + évolutions + monitoring + audit annuel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45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r>
            </a:tbl>
          </a:graphicData>
        </a:graphic>
      </p:graphicFrame>
      <p:sp>
        <p:nvSpPr>
          <p:cNvPr id="7" name="Shape 4"/>
          <p:cNvSpPr/>
          <p:nvPr/>
        </p:nvSpPr>
        <p:spPr>
          <a:xfrm>
            <a:off x="457200" y="6537960"/>
            <a:ext cx="11247120" cy="0"/>
          </a:xfrm>
          <a:prstGeom prst="line">
            <a:avLst/>
          </a:prstGeom>
          <a:noFill/>
          <a:ln w="9525">
            <a:solidFill>
              <a:srgbClr val="E2E8F0"/>
            </a:solidFill>
            <a:prstDash val="solid"/>
          </a:ln>
        </p:spPr>
      </p:sp>
      <p:sp>
        <p:nvSpPr>
          <p:cNvPr id="8" name="Text 5"/>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9" name="Text 6"/>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Budget cash en MAD - hors valorisation temps</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CAPEX 170 K MAD - OPEX 162 K MAD/an - TCO 5 ans 0,98 M MAD</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Shape 4"/>
          <p:cNvSpPr/>
          <p:nvPr/>
        </p:nvSpPr>
        <p:spPr>
          <a:xfrm>
            <a:off x="457200" y="960120"/>
            <a:ext cx="3337560" cy="1463040"/>
          </a:xfrm>
          <a:prstGeom prst="rect">
            <a:avLst/>
          </a:prstGeom>
          <a:solidFill>
            <a:srgbClr val="F7FAFC"/>
          </a:solidFill>
          <a:ln w="12700">
            <a:solidFill>
              <a:srgbClr val="E2E8F0"/>
            </a:solidFill>
            <a:prstDash val="solid"/>
          </a:ln>
        </p:spPr>
      </p:sp>
      <p:sp>
        <p:nvSpPr>
          <p:cNvPr id="7" name="Shape 5"/>
          <p:cNvSpPr/>
          <p:nvPr/>
        </p:nvSpPr>
        <p:spPr>
          <a:xfrm>
            <a:off x="457200" y="960120"/>
            <a:ext cx="3337560" cy="91440"/>
          </a:xfrm>
          <a:prstGeom prst="rect">
            <a:avLst/>
          </a:prstGeom>
          <a:solidFill>
            <a:srgbClr val="1A365D"/>
          </a:solidFill>
          <a:ln w="12700">
            <a:solidFill>
              <a:srgbClr val="1A365D"/>
            </a:solidFill>
            <a:prstDash val="solid"/>
          </a:ln>
        </p:spPr>
      </p:sp>
      <p:sp>
        <p:nvSpPr>
          <p:cNvPr id="8" name="Text 6"/>
          <p:cNvSpPr/>
          <p:nvPr/>
        </p:nvSpPr>
        <p:spPr>
          <a:xfrm>
            <a:off x="640080" y="1097280"/>
            <a:ext cx="2971800" cy="274320"/>
          </a:xfrm>
          <a:prstGeom prst="rect">
            <a:avLst/>
          </a:prstGeom>
          <a:noFill/>
          <a:ln/>
        </p:spPr>
        <p:txBody>
          <a:bodyPr wrap="square" rtlCol="0" anchor="ctr"/>
          <a:lstStyle/>
          <a:p>
            <a:pPr indent="0" marL="0">
              <a:buNone/>
            </a:pPr>
            <a:r>
              <a:rPr lang="en-US" sz="1100" b="1" dirty="0">
                <a:solidFill>
                  <a:srgbClr val="4A5568"/>
                </a:solidFill>
                <a:latin typeface="Calibri" pitchFamily="34" charset="0"/>
                <a:ea typeface="Calibri" pitchFamily="34" charset="-122"/>
                <a:cs typeface="Calibri" pitchFamily="34" charset="-120"/>
              </a:rPr>
              <a:t>CAPEX Build</a:t>
            </a:r>
            <a:endParaRPr lang="en-US" sz="1100" dirty="0"/>
          </a:p>
        </p:txBody>
      </p:sp>
      <p:sp>
        <p:nvSpPr>
          <p:cNvPr id="9" name="Text 7"/>
          <p:cNvSpPr/>
          <p:nvPr/>
        </p:nvSpPr>
        <p:spPr>
          <a:xfrm>
            <a:off x="640080" y="1371600"/>
            <a:ext cx="2971800" cy="731520"/>
          </a:xfrm>
          <a:prstGeom prst="rect">
            <a:avLst/>
          </a:prstGeom>
          <a:noFill/>
          <a:ln/>
        </p:spPr>
        <p:txBody>
          <a:bodyPr wrap="square" rtlCol="0" anchor="ctr"/>
          <a:lstStyle/>
          <a:p>
            <a:pPr indent="0" marL="0">
              <a:buNone/>
            </a:pPr>
            <a:r>
              <a:rPr lang="en-US" sz="4000" b="1" dirty="0">
                <a:solidFill>
                  <a:srgbClr val="1A365D"/>
                </a:solidFill>
                <a:latin typeface="Calibri" pitchFamily="34" charset="0"/>
                <a:ea typeface="Calibri" pitchFamily="34" charset="-122"/>
                <a:cs typeface="Calibri" pitchFamily="34" charset="-120"/>
              </a:rPr>
              <a:t>170 K</a:t>
            </a:r>
            <a:endParaRPr lang="en-US" sz="4000" dirty="0"/>
          </a:p>
        </p:txBody>
      </p:sp>
      <p:sp>
        <p:nvSpPr>
          <p:cNvPr id="10" name="Text 8"/>
          <p:cNvSpPr/>
          <p:nvPr/>
        </p:nvSpPr>
        <p:spPr>
          <a:xfrm>
            <a:off x="640080" y="2103120"/>
            <a:ext cx="2971800" cy="27432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MAD cash</a:t>
            </a:r>
            <a:endParaRPr lang="en-US" sz="1100" dirty="0"/>
          </a:p>
        </p:txBody>
      </p:sp>
      <p:sp>
        <p:nvSpPr>
          <p:cNvPr id="11" name="Shape 9"/>
          <p:cNvSpPr/>
          <p:nvPr/>
        </p:nvSpPr>
        <p:spPr>
          <a:xfrm>
            <a:off x="4416552" y="960120"/>
            <a:ext cx="3337560" cy="1463040"/>
          </a:xfrm>
          <a:prstGeom prst="rect">
            <a:avLst/>
          </a:prstGeom>
          <a:solidFill>
            <a:srgbClr val="F7FAFC"/>
          </a:solidFill>
          <a:ln w="12700">
            <a:solidFill>
              <a:srgbClr val="E2E8F0"/>
            </a:solidFill>
            <a:prstDash val="solid"/>
          </a:ln>
        </p:spPr>
      </p:sp>
      <p:sp>
        <p:nvSpPr>
          <p:cNvPr id="12" name="Shape 10"/>
          <p:cNvSpPr/>
          <p:nvPr/>
        </p:nvSpPr>
        <p:spPr>
          <a:xfrm>
            <a:off x="4416552" y="960120"/>
            <a:ext cx="3337560" cy="91440"/>
          </a:xfrm>
          <a:prstGeom prst="rect">
            <a:avLst/>
          </a:prstGeom>
          <a:solidFill>
            <a:srgbClr val="2C7A7B"/>
          </a:solidFill>
          <a:ln w="12700">
            <a:solidFill>
              <a:srgbClr val="2C7A7B"/>
            </a:solidFill>
            <a:prstDash val="solid"/>
          </a:ln>
        </p:spPr>
      </p:sp>
      <p:sp>
        <p:nvSpPr>
          <p:cNvPr id="13" name="Text 11"/>
          <p:cNvSpPr/>
          <p:nvPr/>
        </p:nvSpPr>
        <p:spPr>
          <a:xfrm>
            <a:off x="4599432" y="1097280"/>
            <a:ext cx="2971800" cy="274320"/>
          </a:xfrm>
          <a:prstGeom prst="rect">
            <a:avLst/>
          </a:prstGeom>
          <a:noFill/>
          <a:ln/>
        </p:spPr>
        <p:txBody>
          <a:bodyPr wrap="square" rtlCol="0" anchor="ctr"/>
          <a:lstStyle/>
          <a:p>
            <a:pPr indent="0" marL="0">
              <a:buNone/>
            </a:pPr>
            <a:r>
              <a:rPr lang="en-US" sz="1100" b="1" dirty="0">
                <a:solidFill>
                  <a:srgbClr val="4A5568"/>
                </a:solidFill>
                <a:latin typeface="Calibri" pitchFamily="34" charset="0"/>
                <a:ea typeface="Calibri" pitchFamily="34" charset="-122"/>
                <a:cs typeface="Calibri" pitchFamily="34" charset="-120"/>
              </a:rPr>
              <a:t>OPEX Run / an</a:t>
            </a:r>
            <a:endParaRPr lang="en-US" sz="1100" dirty="0"/>
          </a:p>
        </p:txBody>
      </p:sp>
      <p:sp>
        <p:nvSpPr>
          <p:cNvPr id="14" name="Text 12"/>
          <p:cNvSpPr/>
          <p:nvPr/>
        </p:nvSpPr>
        <p:spPr>
          <a:xfrm>
            <a:off x="4599432" y="1371600"/>
            <a:ext cx="2971800" cy="731520"/>
          </a:xfrm>
          <a:prstGeom prst="rect">
            <a:avLst/>
          </a:prstGeom>
          <a:noFill/>
          <a:ln/>
        </p:spPr>
        <p:txBody>
          <a:bodyPr wrap="square" rtlCol="0" anchor="ctr"/>
          <a:lstStyle/>
          <a:p>
            <a:pPr indent="0" marL="0">
              <a:buNone/>
            </a:pPr>
            <a:r>
              <a:rPr lang="en-US" sz="4000" b="1" dirty="0">
                <a:solidFill>
                  <a:srgbClr val="2C7A7B"/>
                </a:solidFill>
                <a:latin typeface="Calibri" pitchFamily="34" charset="0"/>
                <a:ea typeface="Calibri" pitchFamily="34" charset="-122"/>
                <a:cs typeface="Calibri" pitchFamily="34" charset="-120"/>
              </a:rPr>
              <a:t>162 K</a:t>
            </a:r>
            <a:endParaRPr lang="en-US" sz="4000" dirty="0"/>
          </a:p>
        </p:txBody>
      </p:sp>
      <p:sp>
        <p:nvSpPr>
          <p:cNvPr id="15" name="Text 13"/>
          <p:cNvSpPr/>
          <p:nvPr/>
        </p:nvSpPr>
        <p:spPr>
          <a:xfrm>
            <a:off x="4599432" y="2103120"/>
            <a:ext cx="2971800" cy="27432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MAD cash</a:t>
            </a:r>
            <a:endParaRPr lang="en-US" sz="1100" dirty="0"/>
          </a:p>
        </p:txBody>
      </p:sp>
      <p:sp>
        <p:nvSpPr>
          <p:cNvPr id="16" name="Shape 14"/>
          <p:cNvSpPr/>
          <p:nvPr/>
        </p:nvSpPr>
        <p:spPr>
          <a:xfrm>
            <a:off x="8375904" y="960120"/>
            <a:ext cx="3337560" cy="1463040"/>
          </a:xfrm>
          <a:prstGeom prst="rect">
            <a:avLst/>
          </a:prstGeom>
          <a:solidFill>
            <a:srgbClr val="F7FAFC"/>
          </a:solidFill>
          <a:ln w="12700">
            <a:solidFill>
              <a:srgbClr val="E2E8F0"/>
            </a:solidFill>
            <a:prstDash val="solid"/>
          </a:ln>
        </p:spPr>
      </p:sp>
      <p:sp>
        <p:nvSpPr>
          <p:cNvPr id="17" name="Shape 15"/>
          <p:cNvSpPr/>
          <p:nvPr/>
        </p:nvSpPr>
        <p:spPr>
          <a:xfrm>
            <a:off x="8375904" y="960120"/>
            <a:ext cx="3337560" cy="91440"/>
          </a:xfrm>
          <a:prstGeom prst="rect">
            <a:avLst/>
          </a:prstGeom>
          <a:solidFill>
            <a:srgbClr val="38A169"/>
          </a:solidFill>
          <a:ln w="12700">
            <a:solidFill>
              <a:srgbClr val="38A169"/>
            </a:solidFill>
            <a:prstDash val="solid"/>
          </a:ln>
        </p:spPr>
      </p:sp>
      <p:sp>
        <p:nvSpPr>
          <p:cNvPr id="18" name="Text 16"/>
          <p:cNvSpPr/>
          <p:nvPr/>
        </p:nvSpPr>
        <p:spPr>
          <a:xfrm>
            <a:off x="8558784" y="1097280"/>
            <a:ext cx="2971800" cy="274320"/>
          </a:xfrm>
          <a:prstGeom prst="rect">
            <a:avLst/>
          </a:prstGeom>
          <a:noFill/>
          <a:ln/>
        </p:spPr>
        <p:txBody>
          <a:bodyPr wrap="square" rtlCol="0" anchor="ctr"/>
          <a:lstStyle/>
          <a:p>
            <a:pPr indent="0" marL="0">
              <a:buNone/>
            </a:pPr>
            <a:r>
              <a:rPr lang="en-US" sz="1100" b="1" dirty="0">
                <a:solidFill>
                  <a:srgbClr val="4A5568"/>
                </a:solidFill>
                <a:latin typeface="Calibri" pitchFamily="34" charset="0"/>
                <a:ea typeface="Calibri" pitchFamily="34" charset="-122"/>
                <a:cs typeface="Calibri" pitchFamily="34" charset="-120"/>
              </a:rPr>
              <a:t>TCO 5 ans</a:t>
            </a:r>
            <a:endParaRPr lang="en-US" sz="1100" dirty="0"/>
          </a:p>
        </p:txBody>
      </p:sp>
      <p:sp>
        <p:nvSpPr>
          <p:cNvPr id="19" name="Text 17"/>
          <p:cNvSpPr/>
          <p:nvPr/>
        </p:nvSpPr>
        <p:spPr>
          <a:xfrm>
            <a:off x="8558784" y="1371600"/>
            <a:ext cx="2971800" cy="731520"/>
          </a:xfrm>
          <a:prstGeom prst="rect">
            <a:avLst/>
          </a:prstGeom>
          <a:noFill/>
          <a:ln/>
        </p:spPr>
        <p:txBody>
          <a:bodyPr wrap="square" rtlCol="0" anchor="ctr"/>
          <a:lstStyle/>
          <a:p>
            <a:pPr indent="0" marL="0">
              <a:buNone/>
            </a:pPr>
            <a:r>
              <a:rPr lang="en-US" sz="4000" b="1" dirty="0">
                <a:solidFill>
                  <a:srgbClr val="38A169"/>
                </a:solidFill>
                <a:latin typeface="Calibri" pitchFamily="34" charset="0"/>
                <a:ea typeface="Calibri" pitchFamily="34" charset="-122"/>
                <a:cs typeface="Calibri" pitchFamily="34" charset="-120"/>
              </a:rPr>
              <a:t>0,98 M</a:t>
            </a:r>
            <a:endParaRPr lang="en-US" sz="4000" dirty="0"/>
          </a:p>
        </p:txBody>
      </p:sp>
      <p:sp>
        <p:nvSpPr>
          <p:cNvPr id="20" name="Text 18"/>
          <p:cNvSpPr/>
          <p:nvPr/>
        </p:nvSpPr>
        <p:spPr>
          <a:xfrm>
            <a:off x="8558784" y="2103120"/>
            <a:ext cx="2971800" cy="274320"/>
          </a:xfrm>
          <a:prstGeom prst="rect">
            <a:avLst/>
          </a:prstGeom>
          <a:noFill/>
          <a:ln/>
        </p:spPr>
        <p:txBody>
          <a:bodyPr wrap="square" rtlCol="0" anchor="ctr"/>
          <a:lstStyle/>
          <a:p>
            <a:pPr indent="0" marL="0">
              <a:buNone/>
            </a:pPr>
            <a:r>
              <a:rPr lang="en-US" sz="1100" dirty="0">
                <a:solidFill>
                  <a:srgbClr val="4A5568"/>
                </a:solidFill>
                <a:latin typeface="Calibri" pitchFamily="34" charset="0"/>
                <a:ea typeface="Calibri" pitchFamily="34" charset="-122"/>
                <a:cs typeface="Calibri" pitchFamily="34" charset="-120"/>
              </a:rPr>
              <a:t>MAD cash</a:t>
            </a:r>
            <a:endParaRPr lang="en-US" sz="1100" dirty="0"/>
          </a:p>
        </p:txBody>
      </p:sp>
      <p:sp>
        <p:nvSpPr>
          <p:cNvPr id="21" name="Text 19"/>
          <p:cNvSpPr/>
          <p:nvPr/>
        </p:nvSpPr>
        <p:spPr>
          <a:xfrm>
            <a:off x="457200" y="2606040"/>
            <a:ext cx="5486400" cy="274320"/>
          </a:xfrm>
          <a:prstGeom prst="rect">
            <a:avLst/>
          </a:prstGeom>
          <a:noFill/>
          <a:ln/>
        </p:spPr>
        <p:txBody>
          <a:bodyPr wrap="square"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Détail CAPEX cash (170 K MAD)</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5486400" cy="914400"/>
        </p:xfrm>
        <a:graphic>
          <a:graphicData uri="http://schemas.openxmlformats.org/drawingml/2006/table">
            <a:tbl>
              <a:tblPr/>
              <a:tblGrid>
                <a:gridCol w="3657600"/>
                <a:gridCol w="1828800"/>
              </a:tblGrid>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Poste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MAD</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Pré-étude P0 (audit API + CNDP)</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10 000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Licences logicielles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b="1" dirty="0">
                          <a:solidFill>
                            <a:srgbClr val="38A169"/>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Domaine + SSL</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1 500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Outillage dev (JetBrains, Figma)</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8 000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Cloud setup (3 env, 3 mois)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18 000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Claude Pro/API (14 mois)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5 600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Audit conformité cabinet BAM</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40 000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Pentest cabinet agréé</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48 000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Frais CNDP</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5 000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Formation utilisateurs</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12 000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dirty="0">
                          <a:solidFill>
                            <a:srgbClr val="1A365D"/>
                          </a:solidFill>
                          <a:latin typeface="Calibri" pitchFamily="34" charset="0"/>
                          <a:ea typeface="Calibri" pitchFamily="34" charset="-122"/>
                          <a:cs typeface="Calibri" pitchFamily="34" charset="-120"/>
                        </a:rPr>
                        <a:t>Buffer 15 %</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900" dirty="0">
                          <a:solidFill>
                            <a:srgbClr val="1A365D"/>
                          </a:solidFill>
                          <a:latin typeface="Calibri" pitchFamily="34" charset="0"/>
                          <a:ea typeface="Calibri" pitchFamily="34" charset="-122"/>
                          <a:cs typeface="Calibri" pitchFamily="34" charset="-120"/>
                        </a:rPr>
                        <a:t>22 000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170 100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bl>
          </a:graphicData>
        </a:graphic>
      </p:graphicFrame>
      <p:sp>
        <p:nvSpPr>
          <p:cNvPr id="23" name="Text 20"/>
          <p:cNvSpPr/>
          <p:nvPr/>
        </p:nvSpPr>
        <p:spPr>
          <a:xfrm>
            <a:off x="6217920" y="2606040"/>
            <a:ext cx="5486400" cy="274320"/>
          </a:xfrm>
          <a:prstGeom prst="rect">
            <a:avLst/>
          </a:prstGeom>
          <a:noFill/>
          <a:ln/>
        </p:spPr>
        <p:txBody>
          <a:bodyPr wrap="square" rtlCol="0" anchor="ctr"/>
          <a:lstStyle/>
          <a:p>
            <a:pPr indent="0" marL="0">
              <a:buNone/>
            </a:pPr>
            <a:r>
              <a:rPr lang="en-US" sz="1200" b="1" dirty="0">
                <a:solidFill>
                  <a:srgbClr val="1A365D"/>
                </a:solidFill>
                <a:latin typeface="Calibri" pitchFamily="34" charset="0"/>
                <a:ea typeface="Calibri" pitchFamily="34" charset="-122"/>
                <a:cs typeface="Calibri" pitchFamily="34" charset="-120"/>
              </a:rPr>
              <a:t>Détail OPEX cash (162 K MAD/an)</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217920" y="2926080"/>
          <a:ext cx="5486400" cy="914400"/>
        </p:xfrm>
        <a:graphic>
          <a:graphicData uri="http://schemas.openxmlformats.org/drawingml/2006/table">
            <a:tbl>
              <a:tblPr/>
              <a:tblGrid>
                <a:gridCol w="3657600"/>
                <a:gridCol w="1828800"/>
              </a:tblGrid>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Poste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MAD/an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Cloud (DC Maroc Tier III+)</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72 000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Claude Pro/API</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4 800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Domaine + certificats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1 500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Outillage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8 000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Audit annuel BAM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40 000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Pentest annuel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30 000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Renouvellement CNDP</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0-5 000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Sentry / monitoring tiers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r" indent="0" marL="0">
                        <a:buNone/>
                      </a:pPr>
                      <a:r>
                        <a:rPr lang="en-US" sz="1000" dirty="0">
                          <a:solidFill>
                            <a:srgbClr val="1A365D"/>
                          </a:solidFill>
                          <a:latin typeface="Calibri" pitchFamily="34" charset="0"/>
                          <a:ea typeface="Calibri" pitchFamily="34" charset="-122"/>
                          <a:cs typeface="Calibri" pitchFamily="34" charset="-120"/>
                        </a:rPr>
                        <a:t>6 000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9260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TOTAL OPEX cash /an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162 300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C7A7B"/>
                    </a:solidFill>
                  </a:tcPr>
                </a:tc>
              </a:tr>
            </a:tbl>
          </a:graphicData>
        </a:graphic>
      </p:graphicFrame>
      <p:sp>
        <p:nvSpPr>
          <p:cNvPr id="25" name="Shape 21"/>
          <p:cNvSpPr/>
          <p:nvPr/>
        </p:nvSpPr>
        <p:spPr>
          <a:xfrm>
            <a:off x="457200" y="5989320"/>
            <a:ext cx="11247120" cy="365760"/>
          </a:xfrm>
          <a:prstGeom prst="rect">
            <a:avLst/>
          </a:prstGeom>
          <a:solidFill>
            <a:srgbClr val="FFF7ED"/>
          </a:solidFill>
          <a:ln w="12700">
            <a:solidFill>
              <a:srgbClr val="DD6B20"/>
            </a:solidFill>
            <a:prstDash val="solid"/>
          </a:ln>
        </p:spPr>
      </p:sp>
      <p:sp>
        <p:nvSpPr>
          <p:cNvPr id="26" name="Text 22"/>
          <p:cNvSpPr/>
          <p:nvPr/>
        </p:nvSpPr>
        <p:spPr>
          <a:xfrm>
            <a:off x="457200" y="5989320"/>
            <a:ext cx="11247120" cy="365760"/>
          </a:xfrm>
          <a:prstGeom prst="rect">
            <a:avLst/>
          </a:prstGeom>
          <a:noFill/>
          <a:ln/>
        </p:spPr>
        <p:txBody>
          <a:bodyPr wrap="square" rtlCol="0" anchor="ctr"/>
          <a:lstStyle/>
          <a:p>
            <a:pPr algn="ctr" indent="0" marL="0">
              <a:buNone/>
            </a:pPr>
            <a:r>
              <a:rPr lang="en-US" sz="1100" b="1" i="1" dirty="0">
                <a:solidFill>
                  <a:srgbClr val="DD6B20"/>
                </a:solidFill>
                <a:latin typeface="Calibri" pitchFamily="34" charset="0"/>
                <a:ea typeface="Calibri" pitchFamily="34" charset="-122"/>
                <a:cs typeface="Calibri" pitchFamily="34" charset="-120"/>
              </a:rPr>
              <a:t>Si valorisation temps dev (TJM 3 500 MAD) : +1 015 K MAD CAPEX + 158 K MAD/an OPEX -&gt; TCO 5 ans 2,78 M MAD</a:t>
            </a:r>
            <a:endParaRPr lang="en-US" sz="1100" dirty="0"/>
          </a:p>
        </p:txBody>
      </p:sp>
      <p:sp>
        <p:nvSpPr>
          <p:cNvPr id="27" name="Shape 23"/>
          <p:cNvSpPr/>
          <p:nvPr/>
        </p:nvSpPr>
        <p:spPr>
          <a:xfrm>
            <a:off x="457200" y="6537960"/>
            <a:ext cx="11247120" cy="0"/>
          </a:xfrm>
          <a:prstGeom prst="line">
            <a:avLst/>
          </a:prstGeom>
          <a:noFill/>
          <a:ln w="9525">
            <a:solidFill>
              <a:srgbClr val="E2E8F0"/>
            </a:solidFill>
            <a:prstDash val="solid"/>
          </a:ln>
        </p:spPr>
      </p:sp>
      <p:sp>
        <p:nvSpPr>
          <p:cNvPr id="28" name="Text 24"/>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29" name="Text 25"/>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Comparaison avant / après</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Impact financier et opérationnel global</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2743200"/>
                <a:gridCol w="3200400"/>
                <a:gridCol w="3474720"/>
                <a:gridCol w="1828800"/>
              </a:tblGrid>
              <a:tr h="5029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Indicateur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Avant (UE / équipe)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4A556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Après (Maroc / solo)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8A169"/>
                    </a:solidFill>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CAPEX Build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1,69 M€ ≈ 18,2 M MAD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170 K MAD cash + 290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-99 %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OPEX Run / an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576 K€ ≈ 6,2 M MAD/an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162 K MAD/an + 45 JH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-97 %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TCO 5 ans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4,57 M€ ≈ 49,4 M MAD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0,98 M MAD cash</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-98 %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Effort total Build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~2 200 JH équipe 12 ETP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315 JH solo + Claude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-85 %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Calendrier Build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44 sem (équipe parallèle)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54 sem (solo full-time)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DD6B20"/>
                          </a:solidFill>
                          <a:latin typeface="Calibri" pitchFamily="34" charset="0"/>
                          <a:ea typeface="Calibri" pitchFamily="34" charset="-122"/>
                          <a:cs typeface="Calibri" pitchFamily="34" charset="-120"/>
                        </a:rPr>
                        <a:t>+23 %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Bénéfices /an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1,45 M€ ≈ 15,7 M MAD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19,6 M MAD (volume MAD)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+25 %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Break-even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3,2 ans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38A169"/>
                          </a:solidFill>
                          <a:latin typeface="Calibri" pitchFamily="34" charset="0"/>
                          <a:ea typeface="Calibri" pitchFamily="34" charset="-122"/>
                          <a:cs typeface="Calibri" pitchFamily="34" charset="-120"/>
                        </a:rPr>
                        <a:t>&lt; 3 mois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-92 %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Décisions COPIL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17 décisions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12 décisions (5 supprimées)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-29 %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02920">
                <a:tc>
                  <a:txBody>
                    <a:bodyPr/>
                    <a:lstStyle/>
                    <a:p>
                      <a:pPr indent="0" marL="0">
                        <a:buNone/>
                      </a:pPr>
                      <a:r>
                        <a:rPr lang="en-US" sz="1100" b="1" dirty="0">
                          <a:solidFill>
                            <a:srgbClr val="1A365D"/>
                          </a:solidFill>
                          <a:latin typeface="Calibri" pitchFamily="34" charset="0"/>
                          <a:ea typeface="Calibri" pitchFamily="34" charset="-122"/>
                          <a:cs typeface="Calibri" pitchFamily="34" charset="-120"/>
                        </a:rPr>
                        <a:t>Risque dominant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Financier + tenue planning</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E53E3E"/>
                          </a:solidFill>
                          <a:latin typeface="Calibri" pitchFamily="34" charset="0"/>
                          <a:ea typeface="Calibri" pitchFamily="34" charset="-122"/>
                          <a:cs typeface="Calibri" pitchFamily="34" charset="-120"/>
                        </a:rPr>
                        <a:t>Bus factor = 1 + sponsorship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DD6B20"/>
                          </a:solidFill>
                          <a:latin typeface="Calibri" pitchFamily="34" charset="0"/>
                          <a:ea typeface="Calibri" pitchFamily="34" charset="-122"/>
                          <a:cs typeface="Calibri" pitchFamily="34" charset="-120"/>
                        </a:rPr>
                        <a:t>Bascule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457200" y="6537960"/>
            <a:ext cx="11247120" cy="0"/>
          </a:xfrm>
          <a:prstGeom prst="line">
            <a:avLst/>
          </a:prstGeom>
          <a:noFill/>
          <a:ln w="9525">
            <a:solidFill>
              <a:srgbClr val="E2E8F0"/>
            </a:solidFill>
            <a:prstDash val="solid"/>
          </a:ln>
        </p:spPr>
      </p:sp>
      <p:sp>
        <p:nvSpPr>
          <p:cNvPr id="8" name="Text 5"/>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9" name="Text 6"/>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Top 10 risques - mode solo + contexte Maroc</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Cotation P x I (Probabilité x Impact, échelle 1-5)</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914400"/>
                <a:gridCol w="4114800"/>
                <a:gridCol w="914400"/>
                <a:gridCol w="5303520"/>
              </a:tblGrid>
              <a:tr h="39319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Risque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 x I</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Mitigation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Sous-estimation effort par optimisme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E53E3E"/>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Buffer 20 %, jalons /2 sem, replanif trimestrielle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Indisponibilité dev (maladie, départ)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E53E3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Sponsor banque + référent SI backup + doc exhaustive + repo banque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Banque change stratégie / sponsor part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E53E3E"/>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Lettre de mission DG/DSI + jalons formels + reporting mensuel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Dérive qualitative / dette technique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D6B2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Tests automatisés ≥ 80 %, SonarQube, audit externe semestriel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RS-04</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Charge mentale -&gt; burnout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D6B2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Cadence soutenable 4j/sem, périodes off, automatisation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API e-sign / GED non documentée ou peu fiable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D6B2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P0 audit 5 JH AVANT engagement build</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Plateforme e-sign banque non agréée DGSSI</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D6B2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Audit P0 + plan B PSCo externe Barid eSign</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Erreur conformité non détectée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D6B2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Cabinet inscrit BAM + correspondant CNDP banque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CNDP refuse traitement / hébergement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DD6B2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Pré-consultation CNDP avant build (gratuite)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000" b="1" dirty="0">
                          <a:solidFill>
                            <a:srgbClr val="1A365D"/>
                          </a:solidFill>
                          <a:latin typeface="Calibri" pitchFamily="34" charset="0"/>
                          <a:ea typeface="Calibri" pitchFamily="34" charset="-122"/>
                          <a:cs typeface="Calibri" pitchFamily="34" charset="-120"/>
                        </a:rPr>
                        <a:t>RS-05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4A5568"/>
                          </a:solidFill>
                          <a:latin typeface="Calibri" pitchFamily="34" charset="0"/>
                          <a:ea typeface="Calibri" pitchFamily="34" charset="-122"/>
                          <a:cs typeface="Calibri" pitchFamily="34" charset="-120"/>
                        </a:rPr>
                        <a:t>Dépendance Claude (panne, pricing)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38A169"/>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1A365D"/>
                          </a:solidFill>
                          <a:latin typeface="Calibri" pitchFamily="34" charset="0"/>
                          <a:ea typeface="Calibri" pitchFamily="34" charset="-122"/>
                          <a:cs typeface="Calibri" pitchFamily="34" charset="-120"/>
                        </a:rPr>
                        <a:t>Alternatives Cursor/Copilot/Codeium ; code reste utilisable</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Text 4"/>
          <p:cNvSpPr/>
          <p:nvPr/>
        </p:nvSpPr>
        <p:spPr>
          <a:xfrm>
            <a:off x="457200" y="5989320"/>
            <a:ext cx="11247120" cy="274320"/>
          </a:xfrm>
          <a:prstGeom prst="rect">
            <a:avLst/>
          </a:prstGeom>
          <a:noFill/>
          <a:ln/>
        </p:spPr>
        <p:txBody>
          <a:bodyPr wrap="square" rtlCol="0" anchor="ctr"/>
          <a:lstStyle/>
          <a:p>
            <a:pPr algn="ctr" indent="0" marL="0">
              <a:buNone/>
            </a:pPr>
            <a:r>
              <a:rPr lang="en-US" sz="900" i="1" dirty="0">
                <a:solidFill>
                  <a:srgbClr val="4A5568"/>
                </a:solidFill>
                <a:latin typeface="Calibri" pitchFamily="34" charset="0"/>
                <a:ea typeface="Calibri" pitchFamily="34" charset="-122"/>
                <a:cs typeface="Calibri" pitchFamily="34" charset="-120"/>
              </a:rPr>
              <a:t>Légende : rouge ≥ 15 (élevé) | orange 10-12 (moyen-élevé) | vert ≤ 8 (acceptable)</a:t>
            </a:r>
            <a:endParaRPr lang="en-US" sz="900" dirty="0"/>
          </a:p>
        </p:txBody>
      </p:sp>
      <p:sp>
        <p:nvSpPr>
          <p:cNvPr id="8" name="Shape 5"/>
          <p:cNvSpPr/>
          <p:nvPr/>
        </p:nvSpPr>
        <p:spPr>
          <a:xfrm>
            <a:off x="457200" y="6537960"/>
            <a:ext cx="11247120" cy="0"/>
          </a:xfrm>
          <a:prstGeom prst="line">
            <a:avLst/>
          </a:prstGeom>
          <a:noFill/>
          <a:ln w="9525">
            <a:solidFill>
              <a:srgbClr val="E2E8F0"/>
            </a:solidFill>
            <a:prstDash val="solid"/>
          </a:ln>
        </p:spPr>
      </p:sp>
      <p:sp>
        <p:nvSpPr>
          <p:cNvPr id="9" name="Text 6"/>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10" name="Text 7"/>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12 décisions COPIL révisées</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Arbitrages structurants dans le contexte Maroc / banque / solo</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914400"/>
                <a:gridCol w="3200400"/>
                <a:gridCol w="7132320"/>
              </a:tblGrid>
              <a:tr h="39319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Décision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Recommandation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D-R1</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Hébergement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Cloud interne banque &gt; DC Maroc Tier III+ &gt; AWS Paris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Niveau signature engagements &gt; 50 K MAD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SEQ Loi 43-20 si plateforme agréée DGSSI ; sinon SEA + politique compensatoire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D-R3</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Stack technique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TypeScript full-stack (Node.js + React) - productivité solo +30 %</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Workflow engine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State machine custom léger (pas Camunda)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Authentification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AD banque + MFA OTP existant (pas Okta)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D-R6</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Bus messages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Redis BullMQ + PostgreSQL LISTEN/NOTIFY (pas Kafka)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D-R7</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Migration historique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Pas de migration ; greenfield + double saisie 3 mois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D-R8</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Stratégie release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Rolling deploy simple (pas Blue/Green Canary)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D-R9</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DR / PRA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Sauvegarde quotidienne + restore &lt; 24h (pas multi-région)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Devises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MAD pivot, multi-devise via taux BAM</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D-R11</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Langues UI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Français + arabe (RTL) ; pas d'autres langues phase 1</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3192">
                <a:tc>
                  <a:txBody>
                    <a:bodyPr/>
                    <a:lstStyle/>
                    <a:p>
                      <a:pPr indent="0" marL="0">
                        <a:buNone/>
                      </a:pPr>
                      <a:r>
                        <a:rPr lang="en-US" sz="1100" b="1" dirty="0">
                          <a:solidFill>
                            <a:srgbClr val="DD6B20"/>
                          </a:solidFill>
                          <a:latin typeface="Calibri" pitchFamily="34" charset="0"/>
                          <a:ea typeface="Calibri" pitchFamily="34" charset="-122"/>
                          <a:cs typeface="Calibri" pitchFamily="34" charset="-120"/>
                        </a:rPr>
                        <a:t>D-R12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Sponsorship &amp; gouvernance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Lettre mission DG/DSI + correspondant CNDP + référent RSSI + backup 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457200" y="6537960"/>
            <a:ext cx="11247120" cy="0"/>
          </a:xfrm>
          <a:prstGeom prst="line">
            <a:avLst/>
          </a:prstGeom>
          <a:noFill/>
          <a:ln w="9525">
            <a:solidFill>
              <a:srgbClr val="E2E8F0"/>
            </a:solidFill>
            <a:prstDash val="solid"/>
          </a:ln>
        </p:spPr>
      </p:sp>
      <p:sp>
        <p:nvSpPr>
          <p:cNvPr id="8" name="Text 5"/>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9" name="Text 6"/>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Plan d'action - 7 phases d'exécution</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P0 Kickoff -&gt; P10 Run - 54 semaines Build</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Shape 4"/>
          <p:cNvSpPr/>
          <p:nvPr/>
        </p:nvSpPr>
        <p:spPr>
          <a:xfrm>
            <a:off x="457200" y="1005840"/>
            <a:ext cx="1280160" cy="640080"/>
          </a:xfrm>
          <a:prstGeom prst="rect">
            <a:avLst/>
          </a:prstGeom>
          <a:solidFill>
            <a:srgbClr val="1A365D"/>
          </a:solidFill>
          <a:ln w="12700">
            <a:solidFill>
              <a:srgbClr val="1A365D"/>
            </a:solidFill>
            <a:prstDash val="solid"/>
          </a:ln>
        </p:spPr>
      </p:sp>
      <p:sp>
        <p:nvSpPr>
          <p:cNvPr id="7" name="Text 5"/>
          <p:cNvSpPr/>
          <p:nvPr/>
        </p:nvSpPr>
        <p:spPr>
          <a:xfrm>
            <a:off x="457200" y="100584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P0</a:t>
            </a:r>
            <a:endParaRPr lang="en-US" sz="1600" dirty="0"/>
          </a:p>
        </p:txBody>
      </p:sp>
      <p:sp>
        <p:nvSpPr>
          <p:cNvPr id="8" name="Text 6"/>
          <p:cNvSpPr/>
          <p:nvPr/>
        </p:nvSpPr>
        <p:spPr>
          <a:xfrm>
            <a:off x="457200" y="132588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4 sem | 15 JH</a:t>
            </a:r>
            <a:endParaRPr lang="en-US" sz="1000" dirty="0"/>
          </a:p>
        </p:txBody>
      </p:sp>
      <p:sp>
        <p:nvSpPr>
          <p:cNvPr id="9" name="Shape 7"/>
          <p:cNvSpPr/>
          <p:nvPr/>
        </p:nvSpPr>
        <p:spPr>
          <a:xfrm>
            <a:off x="1783080" y="1005840"/>
            <a:ext cx="9921240" cy="640080"/>
          </a:xfrm>
          <a:prstGeom prst="rect">
            <a:avLst/>
          </a:prstGeom>
          <a:solidFill>
            <a:srgbClr val="F7FAFC"/>
          </a:solidFill>
          <a:ln w="12700">
            <a:solidFill>
              <a:srgbClr val="E2E8F0"/>
            </a:solidFill>
            <a:prstDash val="solid"/>
          </a:ln>
        </p:spPr>
      </p:sp>
      <p:sp>
        <p:nvSpPr>
          <p:cNvPr id="10" name="Text 8"/>
          <p:cNvSpPr/>
          <p:nvPr/>
        </p:nvSpPr>
        <p:spPr>
          <a:xfrm>
            <a:off x="1920240" y="105156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Kickoff</a:t>
            </a:r>
            <a:endParaRPr lang="en-US" sz="1300" dirty="0"/>
          </a:p>
        </p:txBody>
      </p:sp>
      <p:sp>
        <p:nvSpPr>
          <p:cNvPr id="11" name="Text 9"/>
          <p:cNvSpPr/>
          <p:nvPr/>
        </p:nvSpPr>
        <p:spPr>
          <a:xfrm>
            <a:off x="1920240" y="132588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Audit API banque + pré-consultation CNDP + lettre de mission</a:t>
            </a:r>
            <a:endParaRPr lang="en-US" sz="1000" dirty="0"/>
          </a:p>
        </p:txBody>
      </p:sp>
      <p:sp>
        <p:nvSpPr>
          <p:cNvPr id="12" name="Shape 10"/>
          <p:cNvSpPr/>
          <p:nvPr/>
        </p:nvSpPr>
        <p:spPr>
          <a:xfrm>
            <a:off x="457200" y="1783080"/>
            <a:ext cx="1280160" cy="640080"/>
          </a:xfrm>
          <a:prstGeom prst="rect">
            <a:avLst/>
          </a:prstGeom>
          <a:solidFill>
            <a:srgbClr val="2C7A7B"/>
          </a:solidFill>
          <a:ln w="12700">
            <a:solidFill>
              <a:srgbClr val="2C7A7B"/>
            </a:solidFill>
            <a:prstDash val="solid"/>
          </a:ln>
        </p:spPr>
      </p:sp>
      <p:sp>
        <p:nvSpPr>
          <p:cNvPr id="13" name="Text 11"/>
          <p:cNvSpPr/>
          <p:nvPr/>
        </p:nvSpPr>
        <p:spPr>
          <a:xfrm>
            <a:off x="457200" y="178308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P5</a:t>
            </a:r>
            <a:endParaRPr lang="en-US" sz="1600" dirty="0"/>
          </a:p>
        </p:txBody>
      </p:sp>
      <p:sp>
        <p:nvSpPr>
          <p:cNvPr id="14" name="Text 12"/>
          <p:cNvSpPr/>
          <p:nvPr/>
        </p:nvSpPr>
        <p:spPr>
          <a:xfrm>
            <a:off x="457200" y="210312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4 sem | 25 JH</a:t>
            </a:r>
            <a:endParaRPr lang="en-US" sz="1000" dirty="0"/>
          </a:p>
        </p:txBody>
      </p:sp>
      <p:sp>
        <p:nvSpPr>
          <p:cNvPr id="15" name="Shape 13"/>
          <p:cNvSpPr/>
          <p:nvPr/>
        </p:nvSpPr>
        <p:spPr>
          <a:xfrm>
            <a:off x="1783080" y="1783080"/>
            <a:ext cx="9921240" cy="640080"/>
          </a:xfrm>
          <a:prstGeom prst="rect">
            <a:avLst/>
          </a:prstGeom>
          <a:solidFill>
            <a:srgbClr val="F7FAFC"/>
          </a:solidFill>
          <a:ln w="12700">
            <a:solidFill>
              <a:srgbClr val="E2E8F0"/>
            </a:solidFill>
            <a:prstDash val="solid"/>
          </a:ln>
        </p:spPr>
      </p:sp>
      <p:sp>
        <p:nvSpPr>
          <p:cNvPr id="16" name="Text 14"/>
          <p:cNvSpPr/>
          <p:nvPr/>
        </p:nvSpPr>
        <p:spPr>
          <a:xfrm>
            <a:off x="1920240" y="182880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Cadrage opérationnel</a:t>
            </a:r>
            <a:endParaRPr lang="en-US" sz="1300" dirty="0"/>
          </a:p>
        </p:txBody>
      </p:sp>
      <p:sp>
        <p:nvSpPr>
          <p:cNvPr id="17" name="Text 15"/>
          <p:cNvSpPr/>
          <p:nvPr/>
        </p:nvSpPr>
        <p:spPr>
          <a:xfrm>
            <a:off x="1920240" y="210312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ADR initiaux, IaC, CI/CD, environnements</a:t>
            </a:r>
            <a:endParaRPr lang="en-US" sz="1000" dirty="0"/>
          </a:p>
        </p:txBody>
      </p:sp>
      <p:sp>
        <p:nvSpPr>
          <p:cNvPr id="18" name="Shape 16"/>
          <p:cNvSpPr/>
          <p:nvPr/>
        </p:nvSpPr>
        <p:spPr>
          <a:xfrm>
            <a:off x="457200" y="2560320"/>
            <a:ext cx="1280160" cy="640080"/>
          </a:xfrm>
          <a:prstGeom prst="rect">
            <a:avLst/>
          </a:prstGeom>
          <a:solidFill>
            <a:srgbClr val="2C7A7B"/>
          </a:solidFill>
          <a:ln w="12700">
            <a:solidFill>
              <a:srgbClr val="2C7A7B"/>
            </a:solidFill>
            <a:prstDash val="solid"/>
          </a:ln>
        </p:spPr>
      </p:sp>
      <p:sp>
        <p:nvSpPr>
          <p:cNvPr id="19" name="Text 17"/>
          <p:cNvSpPr/>
          <p:nvPr/>
        </p:nvSpPr>
        <p:spPr>
          <a:xfrm>
            <a:off x="457200" y="256032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P6</a:t>
            </a:r>
            <a:endParaRPr lang="en-US" sz="1600" dirty="0"/>
          </a:p>
        </p:txBody>
      </p:sp>
      <p:sp>
        <p:nvSpPr>
          <p:cNvPr id="20" name="Text 18"/>
          <p:cNvSpPr/>
          <p:nvPr/>
        </p:nvSpPr>
        <p:spPr>
          <a:xfrm>
            <a:off x="457200" y="288036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12 sem | 80 JH</a:t>
            </a:r>
            <a:endParaRPr lang="en-US" sz="1000" dirty="0"/>
          </a:p>
        </p:txBody>
      </p:sp>
      <p:sp>
        <p:nvSpPr>
          <p:cNvPr id="21" name="Shape 19"/>
          <p:cNvSpPr/>
          <p:nvPr/>
        </p:nvSpPr>
        <p:spPr>
          <a:xfrm>
            <a:off x="1783080" y="2560320"/>
            <a:ext cx="9921240" cy="640080"/>
          </a:xfrm>
          <a:prstGeom prst="rect">
            <a:avLst/>
          </a:prstGeom>
          <a:solidFill>
            <a:srgbClr val="F7FAFC"/>
          </a:solidFill>
          <a:ln w="12700">
            <a:solidFill>
              <a:srgbClr val="E2E8F0"/>
            </a:solidFill>
            <a:prstDash val="solid"/>
          </a:ln>
        </p:spPr>
      </p:sp>
      <p:sp>
        <p:nvSpPr>
          <p:cNvPr id="22" name="Text 20"/>
          <p:cNvSpPr/>
          <p:nvPr/>
        </p:nvSpPr>
        <p:spPr>
          <a:xfrm>
            <a:off x="1920240" y="260604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Build vague 1 (MVP)</a:t>
            </a:r>
            <a:endParaRPr lang="en-US" sz="1300" dirty="0"/>
          </a:p>
        </p:txBody>
      </p:sp>
      <p:sp>
        <p:nvSpPr>
          <p:cNvPr id="23" name="Text 21"/>
          <p:cNvSpPr/>
          <p:nvPr/>
        </p:nvSpPr>
        <p:spPr>
          <a:xfrm>
            <a:off x="1920240" y="288036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MS-1 Dossier + MS-3 Notif + frontend MVP + auth AD + adapters mocks</a:t>
            </a:r>
            <a:endParaRPr lang="en-US" sz="1000" dirty="0"/>
          </a:p>
        </p:txBody>
      </p:sp>
      <p:sp>
        <p:nvSpPr>
          <p:cNvPr id="24" name="Shape 22"/>
          <p:cNvSpPr/>
          <p:nvPr/>
        </p:nvSpPr>
        <p:spPr>
          <a:xfrm>
            <a:off x="457200" y="3337560"/>
            <a:ext cx="1280160" cy="640080"/>
          </a:xfrm>
          <a:prstGeom prst="rect">
            <a:avLst/>
          </a:prstGeom>
          <a:solidFill>
            <a:srgbClr val="2C7A7B"/>
          </a:solidFill>
          <a:ln w="12700">
            <a:solidFill>
              <a:srgbClr val="2C7A7B"/>
            </a:solidFill>
            <a:prstDash val="solid"/>
          </a:ln>
        </p:spPr>
      </p:sp>
      <p:sp>
        <p:nvSpPr>
          <p:cNvPr id="25" name="Text 23"/>
          <p:cNvSpPr/>
          <p:nvPr/>
        </p:nvSpPr>
        <p:spPr>
          <a:xfrm>
            <a:off x="457200" y="333756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P7</a:t>
            </a:r>
            <a:endParaRPr lang="en-US" sz="1600" dirty="0"/>
          </a:p>
        </p:txBody>
      </p:sp>
      <p:sp>
        <p:nvSpPr>
          <p:cNvPr id="26" name="Text 24"/>
          <p:cNvSpPr/>
          <p:nvPr/>
        </p:nvSpPr>
        <p:spPr>
          <a:xfrm>
            <a:off x="457200" y="365760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14 sem | 90 JH</a:t>
            </a:r>
            <a:endParaRPr lang="en-US" sz="1000" dirty="0"/>
          </a:p>
        </p:txBody>
      </p:sp>
      <p:sp>
        <p:nvSpPr>
          <p:cNvPr id="27" name="Shape 25"/>
          <p:cNvSpPr/>
          <p:nvPr/>
        </p:nvSpPr>
        <p:spPr>
          <a:xfrm>
            <a:off x="1783080" y="3337560"/>
            <a:ext cx="9921240" cy="640080"/>
          </a:xfrm>
          <a:prstGeom prst="rect">
            <a:avLst/>
          </a:prstGeom>
          <a:solidFill>
            <a:srgbClr val="F7FAFC"/>
          </a:solidFill>
          <a:ln w="12700">
            <a:solidFill>
              <a:srgbClr val="E2E8F0"/>
            </a:solidFill>
            <a:prstDash val="solid"/>
          </a:ln>
        </p:spPr>
      </p:sp>
      <p:sp>
        <p:nvSpPr>
          <p:cNvPr id="28" name="Text 26"/>
          <p:cNvSpPr/>
          <p:nvPr/>
        </p:nvSpPr>
        <p:spPr>
          <a:xfrm>
            <a:off x="1920240" y="338328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Build vague 2</a:t>
            </a:r>
            <a:endParaRPr lang="en-US" sz="1300" dirty="0"/>
          </a:p>
        </p:txBody>
      </p:sp>
      <p:sp>
        <p:nvSpPr>
          <p:cNvPr id="29" name="Text 27"/>
          <p:cNvSpPr/>
          <p:nvPr/>
        </p:nvSpPr>
        <p:spPr>
          <a:xfrm>
            <a:off x="1920240" y="365760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MS-2 Workflow + MS-5 e-Sign réel + MS-6 GED + i18n FR/AR + règles MAD</a:t>
            </a:r>
            <a:endParaRPr lang="en-US" sz="1000" dirty="0"/>
          </a:p>
        </p:txBody>
      </p:sp>
      <p:sp>
        <p:nvSpPr>
          <p:cNvPr id="30" name="Shape 28"/>
          <p:cNvSpPr/>
          <p:nvPr/>
        </p:nvSpPr>
        <p:spPr>
          <a:xfrm>
            <a:off x="457200" y="4114800"/>
            <a:ext cx="1280160" cy="640080"/>
          </a:xfrm>
          <a:prstGeom prst="rect">
            <a:avLst/>
          </a:prstGeom>
          <a:solidFill>
            <a:srgbClr val="2C7A7B"/>
          </a:solidFill>
          <a:ln w="12700">
            <a:solidFill>
              <a:srgbClr val="2C7A7B"/>
            </a:solidFill>
            <a:prstDash val="solid"/>
          </a:ln>
        </p:spPr>
      </p:sp>
      <p:sp>
        <p:nvSpPr>
          <p:cNvPr id="31" name="Text 29"/>
          <p:cNvSpPr/>
          <p:nvPr/>
        </p:nvSpPr>
        <p:spPr>
          <a:xfrm>
            <a:off x="457200" y="411480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P8</a:t>
            </a:r>
            <a:endParaRPr lang="en-US" sz="1600" dirty="0"/>
          </a:p>
        </p:txBody>
      </p:sp>
      <p:sp>
        <p:nvSpPr>
          <p:cNvPr id="32" name="Text 30"/>
          <p:cNvSpPr/>
          <p:nvPr/>
        </p:nvSpPr>
        <p:spPr>
          <a:xfrm>
            <a:off x="457200" y="443484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8 sem | 50 JH</a:t>
            </a:r>
            <a:endParaRPr lang="en-US" sz="1000" dirty="0"/>
          </a:p>
        </p:txBody>
      </p:sp>
      <p:sp>
        <p:nvSpPr>
          <p:cNvPr id="33" name="Shape 31"/>
          <p:cNvSpPr/>
          <p:nvPr/>
        </p:nvSpPr>
        <p:spPr>
          <a:xfrm>
            <a:off x="1783080" y="4114800"/>
            <a:ext cx="9921240" cy="640080"/>
          </a:xfrm>
          <a:prstGeom prst="rect">
            <a:avLst/>
          </a:prstGeom>
          <a:solidFill>
            <a:srgbClr val="F7FAFC"/>
          </a:solidFill>
          <a:ln w="12700">
            <a:solidFill>
              <a:srgbClr val="E2E8F0"/>
            </a:solidFill>
            <a:prstDash val="solid"/>
          </a:ln>
        </p:spPr>
      </p:sp>
      <p:sp>
        <p:nvSpPr>
          <p:cNvPr id="34" name="Text 32"/>
          <p:cNvSpPr/>
          <p:nvPr/>
        </p:nvSpPr>
        <p:spPr>
          <a:xfrm>
            <a:off x="1920240" y="416052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Build vague 3</a:t>
            </a:r>
            <a:endParaRPr lang="en-US" sz="1300" dirty="0"/>
          </a:p>
        </p:txBody>
      </p:sp>
      <p:sp>
        <p:nvSpPr>
          <p:cNvPr id="35" name="Text 33"/>
          <p:cNvSpPr/>
          <p:nvPr/>
        </p:nvSpPr>
        <p:spPr>
          <a:xfrm>
            <a:off x="1920240" y="443484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MS-4 Audit + intégrations finales + tests perf + sécurité E2E</a:t>
            </a:r>
            <a:endParaRPr lang="en-US" sz="1000" dirty="0"/>
          </a:p>
        </p:txBody>
      </p:sp>
      <p:sp>
        <p:nvSpPr>
          <p:cNvPr id="36" name="Shape 34"/>
          <p:cNvSpPr/>
          <p:nvPr/>
        </p:nvSpPr>
        <p:spPr>
          <a:xfrm>
            <a:off x="457200" y="4892040"/>
            <a:ext cx="1280160" cy="640080"/>
          </a:xfrm>
          <a:prstGeom prst="rect">
            <a:avLst/>
          </a:prstGeom>
          <a:solidFill>
            <a:srgbClr val="DD6B20"/>
          </a:solidFill>
          <a:ln w="12700">
            <a:solidFill>
              <a:srgbClr val="DD6B20"/>
            </a:solidFill>
            <a:prstDash val="solid"/>
          </a:ln>
        </p:spPr>
      </p:sp>
      <p:sp>
        <p:nvSpPr>
          <p:cNvPr id="37" name="Text 35"/>
          <p:cNvSpPr/>
          <p:nvPr/>
        </p:nvSpPr>
        <p:spPr>
          <a:xfrm>
            <a:off x="457200" y="489204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P9</a:t>
            </a:r>
            <a:endParaRPr lang="en-US" sz="1600" dirty="0"/>
          </a:p>
        </p:txBody>
      </p:sp>
      <p:sp>
        <p:nvSpPr>
          <p:cNvPr id="38" name="Text 36"/>
          <p:cNvSpPr/>
          <p:nvPr/>
        </p:nvSpPr>
        <p:spPr>
          <a:xfrm>
            <a:off x="457200" y="521208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6 sem | 30 JH</a:t>
            </a:r>
            <a:endParaRPr lang="en-US" sz="1000" dirty="0"/>
          </a:p>
        </p:txBody>
      </p:sp>
      <p:sp>
        <p:nvSpPr>
          <p:cNvPr id="39" name="Shape 37"/>
          <p:cNvSpPr/>
          <p:nvPr/>
        </p:nvSpPr>
        <p:spPr>
          <a:xfrm>
            <a:off x="1783080" y="4892040"/>
            <a:ext cx="9921240" cy="640080"/>
          </a:xfrm>
          <a:prstGeom prst="rect">
            <a:avLst/>
          </a:prstGeom>
          <a:solidFill>
            <a:srgbClr val="F7FAFC"/>
          </a:solidFill>
          <a:ln w="12700">
            <a:solidFill>
              <a:srgbClr val="E2E8F0"/>
            </a:solidFill>
            <a:prstDash val="solid"/>
          </a:ln>
        </p:spPr>
      </p:sp>
      <p:sp>
        <p:nvSpPr>
          <p:cNvPr id="40" name="Text 38"/>
          <p:cNvSpPr/>
          <p:nvPr/>
        </p:nvSpPr>
        <p:spPr>
          <a:xfrm>
            <a:off x="1920240" y="493776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Recette &amp; conformité</a:t>
            </a:r>
            <a:endParaRPr lang="en-US" sz="1300" dirty="0"/>
          </a:p>
        </p:txBody>
      </p:sp>
      <p:sp>
        <p:nvSpPr>
          <p:cNvPr id="41" name="Text 39"/>
          <p:cNvSpPr/>
          <p:nvPr/>
        </p:nvSpPr>
        <p:spPr>
          <a:xfrm>
            <a:off x="1920240" y="521208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Audit BAM + pentest + dépôt CNDP + UAT + formation</a:t>
            </a:r>
            <a:endParaRPr lang="en-US" sz="1000" dirty="0"/>
          </a:p>
        </p:txBody>
      </p:sp>
      <p:sp>
        <p:nvSpPr>
          <p:cNvPr id="42" name="Shape 40"/>
          <p:cNvSpPr/>
          <p:nvPr/>
        </p:nvSpPr>
        <p:spPr>
          <a:xfrm>
            <a:off x="457200" y="5669280"/>
            <a:ext cx="1280160" cy="640080"/>
          </a:xfrm>
          <a:prstGeom prst="rect">
            <a:avLst/>
          </a:prstGeom>
          <a:solidFill>
            <a:srgbClr val="38A169"/>
          </a:solidFill>
          <a:ln w="12700">
            <a:solidFill>
              <a:srgbClr val="38A169"/>
            </a:solidFill>
            <a:prstDash val="solid"/>
          </a:ln>
        </p:spPr>
      </p:sp>
      <p:sp>
        <p:nvSpPr>
          <p:cNvPr id="43" name="Text 41"/>
          <p:cNvSpPr/>
          <p:nvPr/>
        </p:nvSpPr>
        <p:spPr>
          <a:xfrm>
            <a:off x="457200" y="5669280"/>
            <a:ext cx="1280160"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P10</a:t>
            </a:r>
            <a:endParaRPr lang="en-US" sz="1600" dirty="0"/>
          </a:p>
        </p:txBody>
      </p:sp>
      <p:sp>
        <p:nvSpPr>
          <p:cNvPr id="44" name="Text 42"/>
          <p:cNvSpPr/>
          <p:nvPr/>
        </p:nvSpPr>
        <p:spPr>
          <a:xfrm>
            <a:off x="457200" y="5989320"/>
            <a:ext cx="128016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6 sem | 25 JH</a:t>
            </a:r>
            <a:endParaRPr lang="en-US" sz="1000" dirty="0"/>
          </a:p>
        </p:txBody>
      </p:sp>
      <p:sp>
        <p:nvSpPr>
          <p:cNvPr id="45" name="Shape 43"/>
          <p:cNvSpPr/>
          <p:nvPr/>
        </p:nvSpPr>
        <p:spPr>
          <a:xfrm>
            <a:off x="1783080" y="5669280"/>
            <a:ext cx="9921240" cy="640080"/>
          </a:xfrm>
          <a:prstGeom prst="rect">
            <a:avLst/>
          </a:prstGeom>
          <a:solidFill>
            <a:srgbClr val="F7FAFC"/>
          </a:solidFill>
          <a:ln w="12700">
            <a:solidFill>
              <a:srgbClr val="E2E8F0"/>
            </a:solidFill>
            <a:prstDash val="solid"/>
          </a:ln>
        </p:spPr>
      </p:sp>
      <p:sp>
        <p:nvSpPr>
          <p:cNvPr id="46" name="Text 44"/>
          <p:cNvSpPr/>
          <p:nvPr/>
        </p:nvSpPr>
        <p:spPr>
          <a:xfrm>
            <a:off x="1920240" y="5715000"/>
            <a:ext cx="9646920" cy="27432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Mise en prod &amp; hypercare</a:t>
            </a:r>
            <a:endParaRPr lang="en-US" sz="1300" dirty="0"/>
          </a:p>
        </p:txBody>
      </p:sp>
      <p:sp>
        <p:nvSpPr>
          <p:cNvPr id="47" name="Text 45"/>
          <p:cNvSpPr/>
          <p:nvPr/>
        </p:nvSpPr>
        <p:spPr>
          <a:xfrm>
            <a:off x="1920240" y="5989320"/>
            <a:ext cx="9646920" cy="274320"/>
          </a:xfrm>
          <a:prstGeom prst="rect">
            <a:avLst/>
          </a:prstGeom>
          <a:noFill/>
          <a:ln/>
        </p:spPr>
        <p:txBody>
          <a:bodyPr wrap="square" rtlCol="0" anchor="ctr"/>
          <a:lstStyle/>
          <a:p>
            <a:pPr indent="0" marL="0">
              <a:buNone/>
            </a:pPr>
            <a:r>
              <a:rPr lang="en-US" sz="1000" dirty="0">
                <a:solidFill>
                  <a:srgbClr val="4A5568"/>
                </a:solidFill>
                <a:latin typeface="Calibri" pitchFamily="34" charset="0"/>
                <a:ea typeface="Calibri" pitchFamily="34" charset="-122"/>
                <a:cs typeface="Calibri" pitchFamily="34" charset="-120"/>
              </a:rPr>
              <a:t>Go-live progressif (10/50/100 %) + hypercare 4 sem</a:t>
            </a:r>
            <a:endParaRPr lang="en-US" sz="1000" dirty="0"/>
          </a:p>
        </p:txBody>
      </p:sp>
      <p:sp>
        <p:nvSpPr>
          <p:cNvPr id="48" name="Text 46"/>
          <p:cNvSpPr/>
          <p:nvPr/>
        </p:nvSpPr>
        <p:spPr>
          <a:xfrm>
            <a:off x="457200" y="6355080"/>
            <a:ext cx="11247120" cy="228600"/>
          </a:xfrm>
          <a:prstGeom prst="rect">
            <a:avLst/>
          </a:prstGeom>
          <a:noFill/>
          <a:ln/>
        </p:spPr>
        <p:txBody>
          <a:bodyPr wrap="square" rtlCol="0" anchor="ctr"/>
          <a:lstStyle/>
          <a:p>
            <a:pPr algn="ctr" indent="0" marL="0">
              <a:buNone/>
            </a:pPr>
            <a:r>
              <a:rPr lang="en-US" sz="1100" b="1" i="1" dirty="0">
                <a:solidFill>
                  <a:srgbClr val="1A365D"/>
                </a:solidFill>
                <a:latin typeface="Calibri" pitchFamily="34" charset="0"/>
                <a:ea typeface="Calibri" pitchFamily="34" charset="-122"/>
                <a:cs typeface="Calibri" pitchFamily="34" charset="-120"/>
              </a:rPr>
              <a:t>Total : 54 semaines (12,5 mois full-time) + 315 JH solo + Claude</a:t>
            </a:r>
            <a:endParaRPr lang="en-US" sz="1100" dirty="0"/>
          </a:p>
        </p:txBody>
      </p:sp>
      <p:sp>
        <p:nvSpPr>
          <p:cNvPr id="49" name="Shape 47"/>
          <p:cNvSpPr/>
          <p:nvPr/>
        </p:nvSpPr>
        <p:spPr>
          <a:xfrm>
            <a:off x="457200" y="6537960"/>
            <a:ext cx="11247120" cy="0"/>
          </a:xfrm>
          <a:prstGeom prst="line">
            <a:avLst/>
          </a:prstGeom>
          <a:noFill/>
          <a:ln w="9525">
            <a:solidFill>
              <a:srgbClr val="E2E8F0"/>
            </a:solidFill>
            <a:prstDash val="solid"/>
          </a:ln>
        </p:spPr>
      </p:sp>
      <p:sp>
        <p:nvSpPr>
          <p:cNvPr id="50" name="Text 48"/>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51" name="Text 49"/>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Conditions de succès en mode solo</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8 facteurs critiques à sécuriser AVANT kickoff</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sp>
        <p:nvSpPr>
          <p:cNvPr id="6" name="Shape 4"/>
          <p:cNvSpPr/>
          <p:nvPr/>
        </p:nvSpPr>
        <p:spPr>
          <a:xfrm>
            <a:off x="457200" y="1005840"/>
            <a:ext cx="5440680" cy="1143000"/>
          </a:xfrm>
          <a:prstGeom prst="rect">
            <a:avLst/>
          </a:prstGeom>
          <a:solidFill>
            <a:srgbClr val="F7FAFC"/>
          </a:solidFill>
          <a:ln w="12700">
            <a:solidFill>
              <a:srgbClr val="E2E8F0"/>
            </a:solidFill>
            <a:prstDash val="solid"/>
          </a:ln>
        </p:spPr>
      </p:sp>
      <p:sp>
        <p:nvSpPr>
          <p:cNvPr id="7" name="Shape 5"/>
          <p:cNvSpPr/>
          <p:nvPr/>
        </p:nvSpPr>
        <p:spPr>
          <a:xfrm>
            <a:off x="594360" y="1188720"/>
            <a:ext cx="640080" cy="640080"/>
          </a:xfrm>
          <a:prstGeom prst="ellipse">
            <a:avLst/>
          </a:prstGeom>
          <a:solidFill>
            <a:srgbClr val="1A365D"/>
          </a:solidFill>
          <a:ln w="12700">
            <a:solidFill>
              <a:srgbClr val="1A365D"/>
            </a:solidFill>
            <a:prstDash val="solid"/>
          </a:ln>
        </p:spPr>
      </p:sp>
      <p:sp>
        <p:nvSpPr>
          <p:cNvPr id="8" name="Text 6"/>
          <p:cNvSpPr/>
          <p:nvPr/>
        </p:nvSpPr>
        <p:spPr>
          <a:xfrm>
            <a:off x="594360" y="118872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1371600" y="114300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Sponsor banque actif</a:t>
            </a:r>
            <a:endParaRPr lang="en-US" sz="1300" dirty="0"/>
          </a:p>
        </p:txBody>
      </p:sp>
      <p:sp>
        <p:nvSpPr>
          <p:cNvPr id="10" name="Text 8"/>
          <p:cNvSpPr/>
          <p:nvPr/>
        </p:nvSpPr>
        <p:spPr>
          <a:xfrm>
            <a:off x="1371600" y="146304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DSI ou DG signataire lettre de mission, point hebdo 30 min, escalation &lt; 48 h</a:t>
            </a:r>
            <a:endParaRPr lang="en-US" sz="1000" dirty="0"/>
          </a:p>
        </p:txBody>
      </p:sp>
      <p:sp>
        <p:nvSpPr>
          <p:cNvPr id="11" name="Shape 9"/>
          <p:cNvSpPr/>
          <p:nvPr/>
        </p:nvSpPr>
        <p:spPr>
          <a:xfrm>
            <a:off x="6080760" y="1005840"/>
            <a:ext cx="5440680" cy="1143000"/>
          </a:xfrm>
          <a:prstGeom prst="rect">
            <a:avLst/>
          </a:prstGeom>
          <a:solidFill>
            <a:srgbClr val="F7FAFC"/>
          </a:solidFill>
          <a:ln w="12700">
            <a:solidFill>
              <a:srgbClr val="E2E8F0"/>
            </a:solidFill>
            <a:prstDash val="solid"/>
          </a:ln>
        </p:spPr>
      </p:sp>
      <p:sp>
        <p:nvSpPr>
          <p:cNvPr id="12" name="Shape 10"/>
          <p:cNvSpPr/>
          <p:nvPr/>
        </p:nvSpPr>
        <p:spPr>
          <a:xfrm>
            <a:off x="6217920" y="1188720"/>
            <a:ext cx="640080" cy="640080"/>
          </a:xfrm>
          <a:prstGeom prst="ellipse">
            <a:avLst/>
          </a:prstGeom>
          <a:solidFill>
            <a:srgbClr val="1A365D"/>
          </a:solidFill>
          <a:ln w="12700">
            <a:solidFill>
              <a:srgbClr val="1A365D"/>
            </a:solidFill>
            <a:prstDash val="solid"/>
          </a:ln>
        </p:spPr>
      </p:sp>
      <p:sp>
        <p:nvSpPr>
          <p:cNvPr id="13" name="Text 11"/>
          <p:cNvSpPr/>
          <p:nvPr/>
        </p:nvSpPr>
        <p:spPr>
          <a:xfrm>
            <a:off x="6217920" y="118872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4" name="Text 12"/>
          <p:cNvSpPr/>
          <p:nvPr/>
        </p:nvSpPr>
        <p:spPr>
          <a:xfrm>
            <a:off x="6995160" y="114300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Accès API internes garantis</a:t>
            </a:r>
            <a:endParaRPr lang="en-US" sz="1300" dirty="0"/>
          </a:p>
        </p:txBody>
      </p:sp>
      <p:sp>
        <p:nvSpPr>
          <p:cNvPr id="15" name="Text 13"/>
          <p:cNvSpPr/>
          <p:nvPr/>
        </p:nvSpPr>
        <p:spPr>
          <a:xfrm>
            <a:off x="6995160" y="146304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Sandbox e-sign + GED + AD opérationnels semaine 1, doc Swagger, contacts dédiés</a:t>
            </a:r>
            <a:endParaRPr lang="en-US" sz="1000" dirty="0"/>
          </a:p>
        </p:txBody>
      </p:sp>
      <p:sp>
        <p:nvSpPr>
          <p:cNvPr id="16" name="Shape 14"/>
          <p:cNvSpPr/>
          <p:nvPr/>
        </p:nvSpPr>
        <p:spPr>
          <a:xfrm>
            <a:off x="457200" y="2286000"/>
            <a:ext cx="5440680" cy="1143000"/>
          </a:xfrm>
          <a:prstGeom prst="rect">
            <a:avLst/>
          </a:prstGeom>
          <a:solidFill>
            <a:srgbClr val="F7FAFC"/>
          </a:solidFill>
          <a:ln w="12700">
            <a:solidFill>
              <a:srgbClr val="E2E8F0"/>
            </a:solidFill>
            <a:prstDash val="solid"/>
          </a:ln>
        </p:spPr>
      </p:sp>
      <p:sp>
        <p:nvSpPr>
          <p:cNvPr id="17" name="Shape 15"/>
          <p:cNvSpPr/>
          <p:nvPr/>
        </p:nvSpPr>
        <p:spPr>
          <a:xfrm>
            <a:off x="594360" y="2468880"/>
            <a:ext cx="640080" cy="640080"/>
          </a:xfrm>
          <a:prstGeom prst="ellipse">
            <a:avLst/>
          </a:prstGeom>
          <a:solidFill>
            <a:srgbClr val="1A365D"/>
          </a:solidFill>
          <a:ln w="12700">
            <a:solidFill>
              <a:srgbClr val="1A365D"/>
            </a:solidFill>
            <a:prstDash val="solid"/>
          </a:ln>
        </p:spPr>
      </p:sp>
      <p:sp>
        <p:nvSpPr>
          <p:cNvPr id="18" name="Text 16"/>
          <p:cNvSpPr/>
          <p:nvPr/>
        </p:nvSpPr>
        <p:spPr>
          <a:xfrm>
            <a:off x="594360" y="246888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1371600" y="242316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Correspondant CNDP désigné</a:t>
            </a:r>
            <a:endParaRPr lang="en-US" sz="1300" dirty="0"/>
          </a:p>
        </p:txBody>
      </p:sp>
      <p:sp>
        <p:nvSpPr>
          <p:cNvPr id="20" name="Text 18"/>
          <p:cNvSpPr/>
          <p:nvPr/>
        </p:nvSpPr>
        <p:spPr>
          <a:xfrm>
            <a:off x="1371600" y="274320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Validation conformité Loi 09-08, dépôt déclaration sous 8 sem</a:t>
            </a:r>
            <a:endParaRPr lang="en-US" sz="1000" dirty="0"/>
          </a:p>
        </p:txBody>
      </p:sp>
      <p:sp>
        <p:nvSpPr>
          <p:cNvPr id="21" name="Shape 19"/>
          <p:cNvSpPr/>
          <p:nvPr/>
        </p:nvSpPr>
        <p:spPr>
          <a:xfrm>
            <a:off x="6080760" y="2286000"/>
            <a:ext cx="5440680" cy="1143000"/>
          </a:xfrm>
          <a:prstGeom prst="rect">
            <a:avLst/>
          </a:prstGeom>
          <a:solidFill>
            <a:srgbClr val="F7FAFC"/>
          </a:solidFill>
          <a:ln w="12700">
            <a:solidFill>
              <a:srgbClr val="E2E8F0"/>
            </a:solidFill>
            <a:prstDash val="solid"/>
          </a:ln>
        </p:spPr>
      </p:sp>
      <p:sp>
        <p:nvSpPr>
          <p:cNvPr id="22" name="Shape 20"/>
          <p:cNvSpPr/>
          <p:nvPr/>
        </p:nvSpPr>
        <p:spPr>
          <a:xfrm>
            <a:off x="6217920" y="2468880"/>
            <a:ext cx="640080" cy="640080"/>
          </a:xfrm>
          <a:prstGeom prst="ellipse">
            <a:avLst/>
          </a:prstGeom>
          <a:solidFill>
            <a:srgbClr val="1A365D"/>
          </a:solidFill>
          <a:ln w="12700">
            <a:solidFill>
              <a:srgbClr val="1A365D"/>
            </a:solidFill>
            <a:prstDash val="solid"/>
          </a:ln>
        </p:spPr>
      </p:sp>
      <p:sp>
        <p:nvSpPr>
          <p:cNvPr id="23" name="Text 21"/>
          <p:cNvSpPr/>
          <p:nvPr/>
        </p:nvSpPr>
        <p:spPr>
          <a:xfrm>
            <a:off x="6217920" y="246888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4" name="Text 22"/>
          <p:cNvSpPr/>
          <p:nvPr/>
        </p:nvSpPr>
        <p:spPr>
          <a:xfrm>
            <a:off x="6995160" y="242316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RSSI banque associé</a:t>
            </a:r>
            <a:endParaRPr lang="en-US" sz="1300" dirty="0"/>
          </a:p>
        </p:txBody>
      </p:sp>
      <p:sp>
        <p:nvSpPr>
          <p:cNvPr id="25" name="Text 23"/>
          <p:cNvSpPr/>
          <p:nvPr/>
        </p:nvSpPr>
        <p:spPr>
          <a:xfrm>
            <a:off x="6995160" y="274320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Validation architecture sécurité + DNSSI + circulaire BAM 03/W/2016</a:t>
            </a:r>
            <a:endParaRPr lang="en-US" sz="1000" dirty="0"/>
          </a:p>
        </p:txBody>
      </p:sp>
      <p:sp>
        <p:nvSpPr>
          <p:cNvPr id="26" name="Shape 24"/>
          <p:cNvSpPr/>
          <p:nvPr/>
        </p:nvSpPr>
        <p:spPr>
          <a:xfrm>
            <a:off x="457200" y="3566160"/>
            <a:ext cx="5440680" cy="1143000"/>
          </a:xfrm>
          <a:prstGeom prst="rect">
            <a:avLst/>
          </a:prstGeom>
          <a:solidFill>
            <a:srgbClr val="F7FAFC"/>
          </a:solidFill>
          <a:ln w="12700">
            <a:solidFill>
              <a:srgbClr val="E2E8F0"/>
            </a:solidFill>
            <a:prstDash val="solid"/>
          </a:ln>
        </p:spPr>
      </p:sp>
      <p:sp>
        <p:nvSpPr>
          <p:cNvPr id="27" name="Shape 25"/>
          <p:cNvSpPr/>
          <p:nvPr/>
        </p:nvSpPr>
        <p:spPr>
          <a:xfrm>
            <a:off x="594360" y="3749040"/>
            <a:ext cx="640080" cy="640080"/>
          </a:xfrm>
          <a:prstGeom prst="ellipse">
            <a:avLst/>
          </a:prstGeom>
          <a:solidFill>
            <a:srgbClr val="1A365D"/>
          </a:solidFill>
          <a:ln w="12700">
            <a:solidFill>
              <a:srgbClr val="1A365D"/>
            </a:solidFill>
            <a:prstDash val="solid"/>
          </a:ln>
        </p:spPr>
      </p:sp>
      <p:sp>
        <p:nvSpPr>
          <p:cNvPr id="28" name="Text 26"/>
          <p:cNvSpPr/>
          <p:nvPr/>
        </p:nvSpPr>
        <p:spPr>
          <a:xfrm>
            <a:off x="594360" y="37490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9" name="Text 27"/>
          <p:cNvSpPr/>
          <p:nvPr/>
        </p:nvSpPr>
        <p:spPr>
          <a:xfrm>
            <a:off x="1371600" y="370332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Cadence soutenable</a:t>
            </a:r>
            <a:endParaRPr lang="en-US" sz="1300" dirty="0"/>
          </a:p>
        </p:txBody>
      </p:sp>
      <p:sp>
        <p:nvSpPr>
          <p:cNvPr id="30" name="Text 28"/>
          <p:cNvSpPr/>
          <p:nvPr/>
        </p:nvSpPr>
        <p:spPr>
          <a:xfrm>
            <a:off x="1371600" y="402336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4 jours/sem effectifs, vendredi off en repli, jalons /2 sem, replanif trimestrielle</a:t>
            </a:r>
            <a:endParaRPr lang="en-US" sz="1000" dirty="0"/>
          </a:p>
        </p:txBody>
      </p:sp>
      <p:sp>
        <p:nvSpPr>
          <p:cNvPr id="31" name="Shape 29"/>
          <p:cNvSpPr/>
          <p:nvPr/>
        </p:nvSpPr>
        <p:spPr>
          <a:xfrm>
            <a:off x="6080760" y="3566160"/>
            <a:ext cx="5440680" cy="1143000"/>
          </a:xfrm>
          <a:prstGeom prst="rect">
            <a:avLst/>
          </a:prstGeom>
          <a:solidFill>
            <a:srgbClr val="F7FAFC"/>
          </a:solidFill>
          <a:ln w="12700">
            <a:solidFill>
              <a:srgbClr val="E2E8F0"/>
            </a:solidFill>
            <a:prstDash val="solid"/>
          </a:ln>
        </p:spPr>
      </p:sp>
      <p:sp>
        <p:nvSpPr>
          <p:cNvPr id="32" name="Shape 30"/>
          <p:cNvSpPr/>
          <p:nvPr/>
        </p:nvSpPr>
        <p:spPr>
          <a:xfrm>
            <a:off x="6217920" y="3749040"/>
            <a:ext cx="640080" cy="640080"/>
          </a:xfrm>
          <a:prstGeom prst="ellipse">
            <a:avLst/>
          </a:prstGeom>
          <a:solidFill>
            <a:srgbClr val="1A365D"/>
          </a:solidFill>
          <a:ln w="12700">
            <a:solidFill>
              <a:srgbClr val="1A365D"/>
            </a:solidFill>
            <a:prstDash val="solid"/>
          </a:ln>
        </p:spPr>
      </p:sp>
      <p:sp>
        <p:nvSpPr>
          <p:cNvPr id="33" name="Text 31"/>
          <p:cNvSpPr/>
          <p:nvPr/>
        </p:nvSpPr>
        <p:spPr>
          <a:xfrm>
            <a:off x="6217920" y="374904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4" name="Text 32"/>
          <p:cNvSpPr/>
          <p:nvPr/>
        </p:nvSpPr>
        <p:spPr>
          <a:xfrm>
            <a:off x="6995160" y="370332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Backup humain</a:t>
            </a:r>
            <a:endParaRPr lang="en-US" sz="1300" dirty="0"/>
          </a:p>
        </p:txBody>
      </p:sp>
      <p:sp>
        <p:nvSpPr>
          <p:cNvPr id="35" name="Text 33"/>
          <p:cNvSpPr/>
          <p:nvPr/>
        </p:nvSpPr>
        <p:spPr>
          <a:xfrm>
            <a:off x="6995160" y="402336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1 référent SI banque accède au repo + comptes ; runbook exhaustif tenu à jour</a:t>
            </a:r>
            <a:endParaRPr lang="en-US" sz="1000" dirty="0"/>
          </a:p>
        </p:txBody>
      </p:sp>
      <p:sp>
        <p:nvSpPr>
          <p:cNvPr id="36" name="Shape 34"/>
          <p:cNvSpPr/>
          <p:nvPr/>
        </p:nvSpPr>
        <p:spPr>
          <a:xfrm>
            <a:off x="457200" y="4846320"/>
            <a:ext cx="5440680" cy="1143000"/>
          </a:xfrm>
          <a:prstGeom prst="rect">
            <a:avLst/>
          </a:prstGeom>
          <a:solidFill>
            <a:srgbClr val="F7FAFC"/>
          </a:solidFill>
          <a:ln w="12700">
            <a:solidFill>
              <a:srgbClr val="E2E8F0"/>
            </a:solidFill>
            <a:prstDash val="solid"/>
          </a:ln>
        </p:spPr>
      </p:sp>
      <p:sp>
        <p:nvSpPr>
          <p:cNvPr id="37" name="Shape 35"/>
          <p:cNvSpPr/>
          <p:nvPr/>
        </p:nvSpPr>
        <p:spPr>
          <a:xfrm>
            <a:off x="594360" y="5029200"/>
            <a:ext cx="640080" cy="640080"/>
          </a:xfrm>
          <a:prstGeom prst="ellipse">
            <a:avLst/>
          </a:prstGeom>
          <a:solidFill>
            <a:srgbClr val="1A365D"/>
          </a:solidFill>
          <a:ln w="12700">
            <a:solidFill>
              <a:srgbClr val="1A365D"/>
            </a:solidFill>
            <a:prstDash val="solid"/>
          </a:ln>
        </p:spPr>
      </p:sp>
      <p:sp>
        <p:nvSpPr>
          <p:cNvPr id="38" name="Text 36"/>
          <p:cNvSpPr/>
          <p:nvPr/>
        </p:nvSpPr>
        <p:spPr>
          <a:xfrm>
            <a:off x="594360" y="502920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7</a:t>
            </a:r>
            <a:endParaRPr lang="en-US" sz="2200" dirty="0"/>
          </a:p>
        </p:txBody>
      </p:sp>
      <p:sp>
        <p:nvSpPr>
          <p:cNvPr id="39" name="Text 37"/>
          <p:cNvSpPr/>
          <p:nvPr/>
        </p:nvSpPr>
        <p:spPr>
          <a:xfrm>
            <a:off x="1371600" y="498348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Tests automatisés ≥ 80 %</a:t>
            </a:r>
            <a:endParaRPr lang="en-US" sz="1300" dirty="0"/>
          </a:p>
        </p:txBody>
      </p:sp>
      <p:sp>
        <p:nvSpPr>
          <p:cNvPr id="40" name="Text 38"/>
          <p:cNvSpPr/>
          <p:nvPr/>
        </p:nvSpPr>
        <p:spPr>
          <a:xfrm>
            <a:off x="1371600" y="530352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CI bloquante en dessous, SonarQube + Snyk + Trivy en pipeline</a:t>
            </a:r>
            <a:endParaRPr lang="en-US" sz="1000" dirty="0"/>
          </a:p>
        </p:txBody>
      </p:sp>
      <p:sp>
        <p:nvSpPr>
          <p:cNvPr id="41" name="Shape 39"/>
          <p:cNvSpPr/>
          <p:nvPr/>
        </p:nvSpPr>
        <p:spPr>
          <a:xfrm>
            <a:off x="6080760" y="4846320"/>
            <a:ext cx="5440680" cy="1143000"/>
          </a:xfrm>
          <a:prstGeom prst="rect">
            <a:avLst/>
          </a:prstGeom>
          <a:solidFill>
            <a:srgbClr val="F7FAFC"/>
          </a:solidFill>
          <a:ln w="12700">
            <a:solidFill>
              <a:srgbClr val="E2E8F0"/>
            </a:solidFill>
            <a:prstDash val="solid"/>
          </a:ln>
        </p:spPr>
      </p:sp>
      <p:sp>
        <p:nvSpPr>
          <p:cNvPr id="42" name="Shape 40"/>
          <p:cNvSpPr/>
          <p:nvPr/>
        </p:nvSpPr>
        <p:spPr>
          <a:xfrm>
            <a:off x="6217920" y="5029200"/>
            <a:ext cx="640080" cy="640080"/>
          </a:xfrm>
          <a:prstGeom prst="ellipse">
            <a:avLst/>
          </a:prstGeom>
          <a:solidFill>
            <a:srgbClr val="1A365D"/>
          </a:solidFill>
          <a:ln w="12700">
            <a:solidFill>
              <a:srgbClr val="1A365D"/>
            </a:solidFill>
            <a:prstDash val="solid"/>
          </a:ln>
        </p:spPr>
      </p:sp>
      <p:sp>
        <p:nvSpPr>
          <p:cNvPr id="43" name="Text 41"/>
          <p:cNvSpPr/>
          <p:nvPr/>
        </p:nvSpPr>
        <p:spPr>
          <a:xfrm>
            <a:off x="6217920" y="5029200"/>
            <a:ext cx="640080" cy="6400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a:t>
            </a:r>
            <a:endParaRPr lang="en-US" sz="2200" dirty="0"/>
          </a:p>
        </p:txBody>
      </p:sp>
      <p:sp>
        <p:nvSpPr>
          <p:cNvPr id="44" name="Text 42"/>
          <p:cNvSpPr/>
          <p:nvPr/>
        </p:nvSpPr>
        <p:spPr>
          <a:xfrm>
            <a:off x="6995160" y="4983480"/>
            <a:ext cx="4434840" cy="320040"/>
          </a:xfrm>
          <a:prstGeom prst="rect">
            <a:avLst/>
          </a:prstGeom>
          <a:noFill/>
          <a:ln/>
        </p:spPr>
        <p:txBody>
          <a:bodyPr wrap="square" rtlCol="0" anchor="ctr"/>
          <a:lstStyle/>
          <a:p>
            <a:pPr indent="0" marL="0">
              <a:buNone/>
            </a:pPr>
            <a:r>
              <a:rPr lang="en-US" sz="1300" b="1" dirty="0">
                <a:solidFill>
                  <a:srgbClr val="1A365D"/>
                </a:solidFill>
                <a:latin typeface="Calibri" pitchFamily="34" charset="0"/>
                <a:ea typeface="Calibri" pitchFamily="34" charset="-122"/>
                <a:cs typeface="Calibri" pitchFamily="34" charset="-120"/>
              </a:rPr>
              <a:t>Audit externe annuel</a:t>
            </a:r>
            <a:endParaRPr lang="en-US" sz="1300" dirty="0"/>
          </a:p>
        </p:txBody>
      </p:sp>
      <p:sp>
        <p:nvSpPr>
          <p:cNvPr id="45" name="Text 43"/>
          <p:cNvSpPr/>
          <p:nvPr/>
        </p:nvSpPr>
        <p:spPr>
          <a:xfrm>
            <a:off x="6995160" y="5303520"/>
            <a:ext cx="4434840" cy="640080"/>
          </a:xfrm>
          <a:prstGeom prst="rect">
            <a:avLst/>
          </a:prstGeom>
          <a:noFill/>
          <a:ln/>
        </p:spPr>
        <p:txBody>
          <a:bodyPr wrap="square" rtlCol="0" anchor="t"/>
          <a:lstStyle/>
          <a:p>
            <a:pPr indent="0" marL="0">
              <a:buNone/>
            </a:pPr>
            <a:r>
              <a:rPr lang="en-US" sz="1000" dirty="0">
                <a:solidFill>
                  <a:srgbClr val="4A5568"/>
                </a:solidFill>
                <a:latin typeface="Calibri" pitchFamily="34" charset="0"/>
                <a:ea typeface="Calibri" pitchFamily="34" charset="-122"/>
                <a:cs typeface="Calibri" pitchFamily="34" charset="-120"/>
              </a:rPr>
              <a:t>Cabinet inscrit BAM, calendrier fixé en P9 puis annuel + pentest</a:t>
            </a:r>
            <a:endParaRPr lang="en-US" sz="1000" dirty="0"/>
          </a:p>
        </p:txBody>
      </p:sp>
      <p:sp>
        <p:nvSpPr>
          <p:cNvPr id="46" name="Shape 44"/>
          <p:cNvSpPr/>
          <p:nvPr/>
        </p:nvSpPr>
        <p:spPr>
          <a:xfrm>
            <a:off x="457200" y="6537960"/>
            <a:ext cx="11247120" cy="0"/>
          </a:xfrm>
          <a:prstGeom prst="line">
            <a:avLst/>
          </a:prstGeom>
          <a:noFill/>
          <a:ln w="9525">
            <a:solidFill>
              <a:srgbClr val="E2E8F0"/>
            </a:solidFill>
            <a:prstDash val="solid"/>
          </a:ln>
        </p:spPr>
      </p:sp>
      <p:sp>
        <p:nvSpPr>
          <p:cNvPr id="47" name="Text 45"/>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48" name="Text 46"/>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365D"/>
          </a:solidFill>
          <a:ln w="12700">
            <a:solidFill>
              <a:srgbClr val="1A365D"/>
            </a:solidFill>
            <a:prstDash val="solid"/>
          </a:ln>
        </p:spPr>
      </p:sp>
      <p:sp>
        <p:nvSpPr>
          <p:cNvPr id="3" name="Text 1"/>
          <p:cNvSpPr/>
          <p:nvPr/>
        </p:nvSpPr>
        <p:spPr>
          <a:xfrm>
            <a:off x="457200" y="73152"/>
            <a:ext cx="8686800" cy="36576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Plan d'action 30 jours</a:t>
            </a:r>
            <a:endParaRPr lang="en-US" sz="2000" dirty="0"/>
          </a:p>
        </p:txBody>
      </p:sp>
      <p:sp>
        <p:nvSpPr>
          <p:cNvPr id="4" name="Text 2"/>
          <p:cNvSpPr/>
          <p:nvPr/>
        </p:nvSpPr>
        <p:spPr>
          <a:xfrm>
            <a:off x="457200" y="384048"/>
            <a:ext cx="8686800" cy="228600"/>
          </a:xfrm>
          <a:prstGeom prst="rect">
            <a:avLst/>
          </a:prstGeom>
          <a:noFill/>
          <a:ln/>
        </p:spPr>
        <p:txBody>
          <a:bodyPr wrap="square"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10 actions pour engager le programme</a:t>
            </a:r>
            <a:endParaRPr lang="en-US" sz="1100" dirty="0"/>
          </a:p>
        </p:txBody>
      </p:sp>
      <p:sp>
        <p:nvSpPr>
          <p:cNvPr id="5" name="Text 3"/>
          <p:cNvSpPr/>
          <p:nvPr/>
        </p:nvSpPr>
        <p:spPr>
          <a:xfrm>
            <a:off x="10058400" y="164592"/>
            <a:ext cx="1828800" cy="274320"/>
          </a:xfrm>
          <a:prstGeom prst="rect">
            <a:avLst/>
          </a:prstGeom>
          <a:noFill/>
          <a:ln/>
        </p:spPr>
        <p:txBody>
          <a:bodyPr wrap="square" rtlCol="0" anchor="ctr"/>
          <a:lstStyle/>
          <a:p>
            <a:pPr algn="r" indent="0" marL="0">
              <a:buNone/>
            </a:pPr>
            <a:r>
              <a:rPr lang="en-US" sz="1000" b="1" dirty="0">
                <a:solidFill>
                  <a:srgbClr val="CADCFC"/>
                </a:solidFill>
                <a:latin typeface="Calibri" pitchFamily="34" charset="0"/>
                <a:ea typeface="Calibri" pitchFamily="34" charset="-122"/>
                <a:cs typeface="Calibri" pitchFamily="34" charset="-120"/>
              </a:rPr>
              <a:t>CONFIDENTIEL</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11247120" cy="914400"/>
        </p:xfrm>
        <a:graphic>
          <a:graphicData uri="http://schemas.openxmlformats.org/drawingml/2006/table">
            <a:tbl>
              <a:tblPr/>
              <a:tblGrid>
                <a:gridCol w="548640"/>
                <a:gridCol w="7040880"/>
                <a:gridCol w="2286000"/>
                <a:gridCol w="137160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Délai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65D"/>
                    </a:solidFill>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Lettre de mission signée DG/DSI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Sponsor banque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J+5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Désignation correspondant CNDP banque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Conformité banque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J+5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Désignation référent RSSI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RSSI banque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J+5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Audit API plateforme e-signature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Dev + DSI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J+10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Audit API GED + politique rétention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Dev + DSI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38A169"/>
                          </a:solidFill>
                          <a:latin typeface="Calibri" pitchFamily="34" charset="0"/>
                          <a:ea typeface="Calibri" pitchFamily="34" charset="-122"/>
                          <a:cs typeface="Calibri" pitchFamily="34" charset="-120"/>
                        </a:rPr>
                        <a:t>J+10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Demande accès AD + comptes services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Dev + DSI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DD6B20"/>
                          </a:solidFill>
                          <a:latin typeface="Calibri" pitchFamily="34" charset="0"/>
                          <a:ea typeface="Calibri" pitchFamily="34" charset="-122"/>
                          <a:cs typeface="Calibri" pitchFamily="34" charset="-120"/>
                        </a:rPr>
                        <a:t>J+10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Pré-consultation CNDP</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Dev + Conformité</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DD6B20"/>
                          </a:solidFill>
                          <a:latin typeface="Calibri" pitchFamily="34" charset="0"/>
                          <a:ea typeface="Calibri" pitchFamily="34" charset="-122"/>
                          <a:cs typeface="Calibri" pitchFamily="34" charset="-120"/>
                        </a:rPr>
                        <a:t>J+15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Choix hébergement (interne ou DC Maroc)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Sponsor + RSSI</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DD6B20"/>
                          </a:solidFill>
                          <a:latin typeface="Calibri" pitchFamily="34" charset="0"/>
                          <a:ea typeface="Calibri" pitchFamily="34" charset="-122"/>
                          <a:cs typeface="Calibri" pitchFamily="34" charset="-120"/>
                        </a:rPr>
                        <a:t>J+20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Setup repo GitHub banque + CI/CD + IaC</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Dev solo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DD6B20"/>
                          </a:solidFill>
                          <a:latin typeface="Calibri" pitchFamily="34" charset="0"/>
                          <a:ea typeface="Calibri" pitchFamily="34" charset="-122"/>
                          <a:cs typeface="Calibri" pitchFamily="34" charset="-120"/>
                        </a:rPr>
                        <a:t>J+25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algn="ctr" indent="0" marL="0">
                        <a:buNone/>
                      </a:pPr>
                      <a:r>
                        <a:rPr lang="en-US" sz="1100" b="1" dirty="0">
                          <a:solidFill>
                            <a:srgbClr val="1A365D"/>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1A365D"/>
                          </a:solidFill>
                          <a:latin typeface="Calibri" pitchFamily="34" charset="0"/>
                          <a:ea typeface="Calibri" pitchFamily="34" charset="-122"/>
                          <a:cs typeface="Calibri" pitchFamily="34" charset="-120"/>
                        </a:rPr>
                        <a:t>Validation 12 décisions COPIL révisées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Calibri" pitchFamily="34" charset="0"/>
                          <a:ea typeface="Calibri" pitchFamily="34" charset="-122"/>
                          <a:cs typeface="Calibri" pitchFamily="34" charset="-120"/>
                        </a:rPr>
                        <a:t>COPIL Direction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53E3E"/>
                          </a:solidFill>
                          <a:latin typeface="Calibri" pitchFamily="34" charset="0"/>
                          <a:ea typeface="Calibri" pitchFamily="34" charset="-122"/>
                          <a:cs typeface="Calibri" pitchFamily="34" charset="-120"/>
                        </a:rPr>
                        <a:t>J+30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457200" y="6537960"/>
            <a:ext cx="11247120" cy="0"/>
          </a:xfrm>
          <a:prstGeom prst="line">
            <a:avLst/>
          </a:prstGeom>
          <a:noFill/>
          <a:ln w="9525">
            <a:solidFill>
              <a:srgbClr val="E2E8F0"/>
            </a:solidFill>
            <a:prstDash val="solid"/>
          </a:ln>
        </p:spPr>
      </p:sp>
      <p:sp>
        <p:nvSpPr>
          <p:cNvPr id="8" name="Text 5"/>
          <p:cNvSpPr/>
          <p:nvPr/>
        </p:nvSpPr>
        <p:spPr>
          <a:xfrm>
            <a:off x="457200" y="6583680"/>
            <a:ext cx="8229600" cy="228600"/>
          </a:xfrm>
          <a:prstGeom prst="rect">
            <a:avLst/>
          </a:prstGeom>
          <a:noFill/>
          <a:ln/>
        </p:spPr>
        <p:txBody>
          <a:bodyPr wrap="square" rtlCol="0" anchor="ctr"/>
          <a:lstStyle/>
          <a:p>
            <a:pPr indent="0" marL="0">
              <a:buNone/>
            </a:pPr>
            <a:r>
              <a:rPr lang="en-US" sz="900" i="1" dirty="0">
                <a:solidFill>
                  <a:srgbClr val="4A5568"/>
                </a:solidFill>
                <a:latin typeface="Calibri" pitchFamily="34" charset="0"/>
                <a:ea typeface="Calibri" pitchFamily="34" charset="-122"/>
                <a:cs typeface="Calibri" pitchFamily="34" charset="-120"/>
              </a:rPr>
              <a:t>Programme Parapheur Digital - Révision Maroc / Banque / Solo - Avril 2026</a:t>
            </a:r>
            <a:endParaRPr lang="en-US" sz="900" dirty="0"/>
          </a:p>
        </p:txBody>
      </p:sp>
      <p:sp>
        <p:nvSpPr>
          <p:cNvPr id="9" name="Text 6"/>
          <p:cNvSpPr/>
          <p:nvPr/>
        </p:nvSpPr>
        <p:spPr>
          <a:xfrm>
            <a:off x="10515600" y="6583680"/>
            <a:ext cx="1188720" cy="228600"/>
          </a:xfrm>
          <a:prstGeom prst="rect">
            <a:avLst/>
          </a:prstGeom>
          <a:noFill/>
          <a:ln/>
        </p:spPr>
        <p:txBody>
          <a:bodyPr wrap="square"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253F"/>
        </a:solidFill>
      </p:bgPr>
    </p:bg>
    <p:spTree>
      <p:nvGrpSpPr>
        <p:cNvPr id="1" name=""/>
        <p:cNvGrpSpPr/>
        <p:nvPr/>
      </p:nvGrpSpPr>
      <p:grpSpPr>
        <a:xfrm>
          <a:off x="0" y="0"/>
          <a:ext cx="0" cy="0"/>
          <a:chOff x="0" y="0"/>
          <a:chExt cx="0" cy="0"/>
        </a:xfrm>
      </p:grpSpPr>
      <p:sp>
        <p:nvSpPr>
          <p:cNvPr id="2" name="Text 0"/>
          <p:cNvSpPr/>
          <p:nvPr/>
        </p:nvSpPr>
        <p:spPr>
          <a:xfrm>
            <a:off x="457200" y="640080"/>
            <a:ext cx="11247120" cy="548640"/>
          </a:xfrm>
          <a:prstGeom prst="rect">
            <a:avLst/>
          </a:prstGeom>
          <a:noFill/>
          <a:ln/>
        </p:spPr>
        <p:txBody>
          <a:bodyPr wrap="square" rtlCol="0" anchor="ctr"/>
          <a:lstStyle/>
          <a:p>
            <a:pPr algn="ctr" indent="0" marL="0">
              <a:buNone/>
            </a:pPr>
            <a:r>
              <a:rPr lang="en-US" sz="3200" b="1" spc="400" kern="0" dirty="0">
                <a:solidFill>
                  <a:srgbClr val="FFFFFF"/>
                </a:solidFill>
                <a:latin typeface="Calibri" pitchFamily="34" charset="0"/>
                <a:ea typeface="Calibri" pitchFamily="34" charset="-122"/>
                <a:cs typeface="Calibri" pitchFamily="34" charset="-120"/>
              </a:rPr>
              <a:t>DEMANDE AU COPIL</a:t>
            </a:r>
            <a:endParaRPr lang="en-US" sz="3200" dirty="0"/>
          </a:p>
        </p:txBody>
      </p:sp>
      <p:sp>
        <p:nvSpPr>
          <p:cNvPr id="3" name="Shape 1"/>
          <p:cNvSpPr/>
          <p:nvPr/>
        </p:nvSpPr>
        <p:spPr>
          <a:xfrm>
            <a:off x="4114800" y="1280160"/>
            <a:ext cx="3931920" cy="0"/>
          </a:xfrm>
          <a:prstGeom prst="line">
            <a:avLst/>
          </a:prstGeom>
          <a:noFill/>
          <a:ln w="25400">
            <a:solidFill>
              <a:srgbClr val="DD6B20"/>
            </a:solidFill>
            <a:prstDash val="solid"/>
          </a:ln>
        </p:spPr>
      </p:sp>
      <p:sp>
        <p:nvSpPr>
          <p:cNvPr id="4" name="Shape 2"/>
          <p:cNvSpPr/>
          <p:nvPr/>
        </p:nvSpPr>
        <p:spPr>
          <a:xfrm>
            <a:off x="640080" y="1645920"/>
            <a:ext cx="731520" cy="731520"/>
          </a:xfrm>
          <a:prstGeom prst="ellipse">
            <a:avLst/>
          </a:prstGeom>
          <a:solidFill>
            <a:srgbClr val="DD6B20"/>
          </a:solidFill>
          <a:ln w="12700">
            <a:solidFill>
              <a:srgbClr val="DD6B20"/>
            </a:solidFill>
            <a:prstDash val="solid"/>
          </a:ln>
        </p:spPr>
      </p:sp>
      <p:sp>
        <p:nvSpPr>
          <p:cNvPr id="5" name="Text 3"/>
          <p:cNvSpPr/>
          <p:nvPr/>
        </p:nvSpPr>
        <p:spPr>
          <a:xfrm>
            <a:off x="640080" y="164592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6" name="Text 4"/>
          <p:cNvSpPr/>
          <p:nvPr/>
        </p:nvSpPr>
        <p:spPr>
          <a:xfrm>
            <a:off x="1554480" y="1600200"/>
            <a:ext cx="100584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GO programme révisé</a:t>
            </a:r>
            <a:endParaRPr lang="en-US" sz="1800" dirty="0"/>
          </a:p>
        </p:txBody>
      </p:sp>
      <p:sp>
        <p:nvSpPr>
          <p:cNvPr id="7" name="Text 5"/>
          <p:cNvSpPr/>
          <p:nvPr/>
        </p:nvSpPr>
        <p:spPr>
          <a:xfrm>
            <a:off x="1554480" y="1965960"/>
            <a:ext cx="10058400" cy="6400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Validation du cadrage dans le contexte Maroc / banque / e-sign et GED internes / mode solo + Claude. TCO 5 ans 0,98 M MAD cash ; ROI break-even &lt; 3 mois.</a:t>
            </a:r>
            <a:endParaRPr lang="en-US" sz="1200" dirty="0"/>
          </a:p>
        </p:txBody>
      </p:sp>
      <p:sp>
        <p:nvSpPr>
          <p:cNvPr id="8" name="Shape 6"/>
          <p:cNvSpPr/>
          <p:nvPr/>
        </p:nvSpPr>
        <p:spPr>
          <a:xfrm>
            <a:off x="640080" y="2697480"/>
            <a:ext cx="731520" cy="731520"/>
          </a:xfrm>
          <a:prstGeom prst="ellipse">
            <a:avLst/>
          </a:prstGeom>
          <a:solidFill>
            <a:srgbClr val="DD6B20"/>
          </a:solidFill>
          <a:ln w="12700">
            <a:solidFill>
              <a:srgbClr val="DD6B20"/>
            </a:solidFill>
            <a:prstDash val="solid"/>
          </a:ln>
        </p:spPr>
      </p:sp>
      <p:sp>
        <p:nvSpPr>
          <p:cNvPr id="9" name="Text 7"/>
          <p:cNvSpPr/>
          <p:nvPr/>
        </p:nvSpPr>
        <p:spPr>
          <a:xfrm>
            <a:off x="640080" y="269748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0" name="Text 8"/>
          <p:cNvSpPr/>
          <p:nvPr/>
        </p:nvSpPr>
        <p:spPr>
          <a:xfrm>
            <a:off x="1554480" y="2651760"/>
            <a:ext cx="100584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Validation des 12 décisions D-R1 à D-R12</a:t>
            </a:r>
            <a:endParaRPr lang="en-US" sz="1800" dirty="0"/>
          </a:p>
        </p:txBody>
      </p:sp>
      <p:sp>
        <p:nvSpPr>
          <p:cNvPr id="11" name="Text 9"/>
          <p:cNvSpPr/>
          <p:nvPr/>
        </p:nvSpPr>
        <p:spPr>
          <a:xfrm>
            <a:off x="1554480" y="3017520"/>
            <a:ext cx="10058400" cy="6400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Hébergement, niveau signature (SEQ vs SEA), stack technique, sponsorship, et 8 autres arbitrages structurants détaillés en slide 14.</a:t>
            </a:r>
            <a:endParaRPr lang="en-US" sz="1200" dirty="0"/>
          </a:p>
        </p:txBody>
      </p:sp>
      <p:sp>
        <p:nvSpPr>
          <p:cNvPr id="12" name="Shape 10"/>
          <p:cNvSpPr/>
          <p:nvPr/>
        </p:nvSpPr>
        <p:spPr>
          <a:xfrm>
            <a:off x="640080" y="3749040"/>
            <a:ext cx="731520" cy="731520"/>
          </a:xfrm>
          <a:prstGeom prst="ellipse">
            <a:avLst/>
          </a:prstGeom>
          <a:solidFill>
            <a:srgbClr val="DD6B20"/>
          </a:solidFill>
          <a:ln w="12700">
            <a:solidFill>
              <a:srgbClr val="DD6B20"/>
            </a:solidFill>
            <a:prstDash val="solid"/>
          </a:ln>
        </p:spPr>
      </p:sp>
      <p:sp>
        <p:nvSpPr>
          <p:cNvPr id="13" name="Text 11"/>
          <p:cNvSpPr/>
          <p:nvPr/>
        </p:nvSpPr>
        <p:spPr>
          <a:xfrm>
            <a:off x="640080" y="374904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4" name="Text 12"/>
          <p:cNvSpPr/>
          <p:nvPr/>
        </p:nvSpPr>
        <p:spPr>
          <a:xfrm>
            <a:off x="1554480" y="3703320"/>
            <a:ext cx="100584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Mandat solo + sponsorship banque</a:t>
            </a:r>
            <a:endParaRPr lang="en-US" sz="1800" dirty="0"/>
          </a:p>
        </p:txBody>
      </p:sp>
      <p:sp>
        <p:nvSpPr>
          <p:cNvPr id="15" name="Text 13"/>
          <p:cNvSpPr/>
          <p:nvPr/>
        </p:nvSpPr>
        <p:spPr>
          <a:xfrm>
            <a:off x="1554480" y="4069080"/>
            <a:ext cx="10058400" cy="6400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Lettre de mission DG/DSI signée. Désignation correspondant CNDP + référent RSSI + backup SI. Budget 170 K MAD CAPEX + 162 K MAD/an OPEX validé.</a:t>
            </a:r>
            <a:endParaRPr lang="en-US" sz="1200" dirty="0"/>
          </a:p>
        </p:txBody>
      </p:sp>
      <p:sp>
        <p:nvSpPr>
          <p:cNvPr id="16" name="Shape 14"/>
          <p:cNvSpPr/>
          <p:nvPr/>
        </p:nvSpPr>
        <p:spPr>
          <a:xfrm>
            <a:off x="640080" y="4800600"/>
            <a:ext cx="731520" cy="731520"/>
          </a:xfrm>
          <a:prstGeom prst="ellipse">
            <a:avLst/>
          </a:prstGeom>
          <a:solidFill>
            <a:srgbClr val="DD6B20"/>
          </a:solidFill>
          <a:ln w="12700">
            <a:solidFill>
              <a:srgbClr val="DD6B20"/>
            </a:solidFill>
            <a:prstDash val="solid"/>
          </a:ln>
        </p:spPr>
      </p:sp>
      <p:sp>
        <p:nvSpPr>
          <p:cNvPr id="17" name="Text 15"/>
          <p:cNvSpPr/>
          <p:nvPr/>
        </p:nvSpPr>
        <p:spPr>
          <a:xfrm>
            <a:off x="640080" y="4800600"/>
            <a:ext cx="731520" cy="73152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18" name="Text 16"/>
          <p:cNvSpPr/>
          <p:nvPr/>
        </p:nvSpPr>
        <p:spPr>
          <a:xfrm>
            <a:off x="1554480" y="4754880"/>
            <a:ext cx="10058400" cy="36576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Levée des 4 prérequis bloquants P0</a:t>
            </a:r>
            <a:endParaRPr lang="en-US" sz="1800" dirty="0"/>
          </a:p>
        </p:txBody>
      </p:sp>
      <p:sp>
        <p:nvSpPr>
          <p:cNvPr id="19" name="Text 17"/>
          <p:cNvSpPr/>
          <p:nvPr/>
        </p:nvSpPr>
        <p:spPr>
          <a:xfrm>
            <a:off x="1554480" y="5120640"/>
            <a:ext cx="10058400" cy="6400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(a) accès API e-sign opérationnel, (b) accès API GED opérationnel, (c) hébergement validé, (d) pré-consultation CNDP réalisée. À achever sous 30 jours pour démarrer P5.</a:t>
            </a:r>
            <a:endParaRPr lang="en-US" sz="1200" dirty="0"/>
          </a:p>
        </p:txBody>
      </p:sp>
      <p:sp>
        <p:nvSpPr>
          <p:cNvPr id="20" name="Shape 18"/>
          <p:cNvSpPr/>
          <p:nvPr/>
        </p:nvSpPr>
        <p:spPr>
          <a:xfrm>
            <a:off x="457200" y="6080760"/>
            <a:ext cx="11247120" cy="0"/>
          </a:xfrm>
          <a:prstGeom prst="line">
            <a:avLst/>
          </a:prstGeom>
          <a:noFill/>
          <a:ln w="12700">
            <a:solidFill>
              <a:srgbClr val="DD6B20"/>
            </a:solidFill>
            <a:prstDash val="solid"/>
          </a:ln>
        </p:spPr>
      </p:sp>
      <p:sp>
        <p:nvSpPr>
          <p:cNvPr id="21" name="Text 19"/>
          <p:cNvSpPr/>
          <p:nvPr/>
        </p:nvSpPr>
        <p:spPr>
          <a:xfrm>
            <a:off x="457200" y="6172200"/>
            <a:ext cx="11247120" cy="274320"/>
          </a:xfrm>
          <a:prstGeom prst="rect">
            <a:avLst/>
          </a:prstGeom>
          <a:noFill/>
          <a:ln/>
        </p:spPr>
        <p:txBody>
          <a:bodyPr wrap="square" rtlCol="0" anchor="ctr"/>
          <a:lstStyle/>
          <a:p>
            <a:pPr algn="ctr" indent="0" marL="0">
              <a:buNone/>
            </a:pPr>
            <a:r>
              <a:rPr lang="en-US" sz="1100" i="1" dirty="0">
                <a:solidFill>
                  <a:srgbClr val="DD6B20"/>
                </a:solidFill>
                <a:latin typeface="Calibri" pitchFamily="34" charset="0"/>
                <a:ea typeface="Calibri" pitchFamily="34" charset="-122"/>
                <a:cs typeface="Calibri" pitchFamily="34" charset="-120"/>
              </a:rPr>
              <a:t>Calendrier proposé : signature lettre de mission J+5 - kickoff P0 J+5 - démarrage Build P5 à J+30 - go-live à T+54 sem</a:t>
            </a:r>
            <a:endParaRPr lang="en-US" sz="1100" dirty="0"/>
          </a:p>
        </p:txBody>
      </p:sp>
      <p:sp>
        <p:nvSpPr>
          <p:cNvPr id="22" name="Text 20"/>
          <p:cNvSpPr/>
          <p:nvPr/>
        </p:nvSpPr>
        <p:spPr>
          <a:xfrm>
            <a:off x="457200" y="6537960"/>
            <a:ext cx="11247120" cy="228600"/>
          </a:xfrm>
          <a:prstGeom prst="rect">
            <a:avLst/>
          </a:prstGeom>
          <a:noFill/>
          <a:ln/>
        </p:spPr>
        <p:txBody>
          <a:bodyPr wrap="square" rtlCol="0" anchor="ctr"/>
          <a:lstStyle/>
          <a:p>
            <a:pPr algn="ctr" indent="0" marL="0">
              <a:buNone/>
            </a:pPr>
            <a:r>
              <a:rPr lang="en-US" sz="900" i="1" dirty="0">
                <a:solidFill>
                  <a:srgbClr val="8FA8C9"/>
                </a:solidFill>
                <a:latin typeface="Calibri" pitchFamily="34" charset="0"/>
                <a:ea typeface="Calibri" pitchFamily="34" charset="-122"/>
                <a:cs typeface="Calibri" pitchFamily="34" charset="-120"/>
              </a:rPr>
              <a:t>Programme Parapheur Digital - Synthèse révisée Maroc / Banque / Solo - Avril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CONFIDENTIEL - Direction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 Parapheur Digital - Synthèse révisée Maroc/Solo - Avril 2026</dc:title>
  <dc:subject>PptxGenJS Presentation</dc:subject>
  <dc:creator>Direction Programme Parapheur Digital</dc:creator>
  <cp:lastModifiedBy>Direction Programme Parapheur Digital</cp:lastModifiedBy>
  <cp:revision>1</cp:revision>
  <dcterms:created xsi:type="dcterms:W3CDTF">2026-04-25T19:11:57Z</dcterms:created>
  <dcterms:modified xsi:type="dcterms:W3CDTF">2026-04-25T19:11:57Z</dcterms:modified>
</cp:coreProperties>
</file>